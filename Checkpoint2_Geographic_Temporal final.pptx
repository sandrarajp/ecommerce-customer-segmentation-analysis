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63" r:id="rId3"/>
    <p:sldId id="257" r:id="rId4"/>
    <p:sldId id="258" r:id="rId5"/>
    <p:sldId id="264" r:id="rId6"/>
    <p:sldId id="259" r:id="rId7"/>
    <p:sldId id="265" r:id="rId8"/>
    <p:sldId id="266" r:id="rId9"/>
    <p:sldId id="260" r:id="rId10"/>
    <p:sldId id="267" r:id="rId11"/>
    <p:sldId id="261" r:id="rId12"/>
    <p:sldId id="263"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8854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checkpoint presentation summarizes the progress made in executing the Online Retail Returns project, focusing on geographic and temporal analysis. The business problem centers on understanding why product returns occur and how they impact financial and operational performance. Returns generate direct revenue loss through refunded sales and indirect costs such as handling, logistics, and inventory disruption. The objective at this stage is not to finalize solutions, but to demonstrate that the project has moved decisively from planning into execution, with data prepared, initial analyses completed, and a clear analytical direction established. The analysis aims to identify where returns are concentrated geographically, how they evolve over time, and whether early patterns suggest deeper structural, product-related, or customer-driven causes. This checkpoint also sets the foundation for subsequent customer and product analyses by translating early findings into concrete analytical handoffs. The intent is to show academic rigor, logical reasoning, and business relevance, ensuring that every analytical step can be clearly explained and defended. At this stage, the work demonstrates that return behavior is not random noise but a measurable and structured phenomenon that can be analyzed systematically to support decision-making.</a:t>
            </a:r>
          </a:p>
        </p:txBody>
      </p:sp>
      <p:sp>
        <p:nvSpPr>
          <p:cNvPr id="4" name="Slide Number Placeholder 3"/>
          <p:cNvSpPr>
            <a:spLocks noGrp="1"/>
          </p:cNvSpPr>
          <p:nvPr>
            <p:ph type="sldNum" sz="quarter" idx="5"/>
          </p:nvPr>
        </p:nvSpPr>
        <p:spPr/>
        <p:txBody>
          <a:bodyPr/>
          <a:lstStyle/>
          <a:p>
            <a:fld id="{B1524A18-AD1D-424B-85D6-738CA385C45E}" type="slidenum">
              <a:t>2</a:t>
            </a:fld>
            <a:endParaRPr lang="en-US"/>
          </a:p>
        </p:txBody>
      </p:sp>
    </p:spTree>
    <p:extLst>
      <p:ext uri="{BB962C8B-B14F-4D97-AF65-F5344CB8AC3E}">
        <p14:creationId xmlns:p14="http://schemas.microsoft.com/office/powerpoint/2010/main" val="3086788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4804587"/>
            <a:ext cx="9143999" cy="346331"/>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6368344" y="4804587"/>
            <a:ext cx="2775656" cy="346331"/>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48640" y="234429"/>
            <a:ext cx="5143500" cy="692658"/>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48640" y="1035558"/>
            <a:ext cx="5143500" cy="3456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6368345" y="452628"/>
            <a:ext cx="2313883" cy="3902202"/>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Saturday, May 16, 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667290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4855"/>
          </a:solidFill>
          <a:ln/>
        </p:spPr>
      </p:sp>
      <p:sp>
        <p:nvSpPr>
          <p:cNvPr id="3" name="Text 1"/>
          <p:cNvSpPr/>
          <p:nvPr/>
        </p:nvSpPr>
        <p:spPr>
          <a:xfrm>
            <a:off x="548640" y="731520"/>
            <a:ext cx="6858000" cy="1645920"/>
          </a:xfrm>
          <a:prstGeom prst="rect">
            <a:avLst/>
          </a:prstGeom>
          <a:noFill/>
          <a:ln/>
        </p:spPr>
        <p:txBody>
          <a:bodyPr wrap="square"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Geographic &amp; Temporal</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Analysis</a:t>
            </a:r>
            <a:endParaRPr lang="en-US" sz="3800" dirty="0"/>
          </a:p>
        </p:txBody>
      </p:sp>
      <p:sp>
        <p:nvSpPr>
          <p:cNvPr id="4" name="Text 2"/>
          <p:cNvSpPr/>
          <p:nvPr/>
        </p:nvSpPr>
        <p:spPr>
          <a:xfrm>
            <a:off x="548640" y="2377440"/>
            <a:ext cx="6400800" cy="457200"/>
          </a:xfrm>
          <a:prstGeom prst="rect">
            <a:avLst/>
          </a:prstGeom>
          <a:noFill/>
          <a:ln/>
        </p:spPr>
        <p:txBody>
          <a:bodyPr wrap="square" rtlCol="0" anchor="ctr"/>
          <a:lstStyle/>
          <a:p>
            <a:pPr marL="0" indent="0">
              <a:buNone/>
            </a:pPr>
            <a:r>
              <a:rPr lang="en-US" sz="1600" dirty="0">
                <a:solidFill>
                  <a:srgbClr val="7AA8CC"/>
                </a:solidFill>
                <a:latin typeface="Calibri" pitchFamily="34" charset="0"/>
                <a:ea typeface="Calibri" pitchFamily="34" charset="-122"/>
                <a:cs typeface="Calibri" pitchFamily="34" charset="-120"/>
              </a:rPr>
              <a:t>Online Retail Returns — Checkpoint #2</a:t>
            </a:r>
            <a:endParaRPr lang="en-US" sz="1600" dirty="0"/>
          </a:p>
        </p:txBody>
      </p:sp>
      <p:sp>
        <p:nvSpPr>
          <p:cNvPr id="5" name="Shape 3"/>
          <p:cNvSpPr/>
          <p:nvPr/>
        </p:nvSpPr>
        <p:spPr>
          <a:xfrm>
            <a:off x="548640" y="2926080"/>
            <a:ext cx="5943600" cy="1280160"/>
          </a:xfrm>
          <a:prstGeom prst="rect">
            <a:avLst/>
          </a:prstGeom>
          <a:solidFill>
            <a:srgbClr val="162540"/>
          </a:solidFill>
          <a:ln w="12700">
            <a:solidFill>
              <a:srgbClr val="2A4A6A"/>
            </a:solidFill>
            <a:prstDash val="solid"/>
          </a:ln>
        </p:spPr>
      </p:sp>
      <p:sp>
        <p:nvSpPr>
          <p:cNvPr id="6" name="Shape 4"/>
          <p:cNvSpPr/>
          <p:nvPr/>
        </p:nvSpPr>
        <p:spPr>
          <a:xfrm>
            <a:off x="548640" y="2926080"/>
            <a:ext cx="54864" cy="1280160"/>
          </a:xfrm>
          <a:prstGeom prst="rect">
            <a:avLst/>
          </a:prstGeom>
          <a:solidFill>
            <a:srgbClr val="2E86AB"/>
          </a:solidFill>
          <a:ln/>
        </p:spPr>
      </p:sp>
      <p:sp>
        <p:nvSpPr>
          <p:cNvPr id="7" name="Text 5"/>
          <p:cNvSpPr/>
          <p:nvPr/>
        </p:nvSpPr>
        <p:spPr>
          <a:xfrm>
            <a:off x="731520" y="2971800"/>
            <a:ext cx="5669280" cy="1188720"/>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Q1: </a:t>
            </a:r>
            <a:r>
              <a:rPr lang="en-US" sz="1300" dirty="0">
                <a:solidFill>
                  <a:srgbClr val="FFFFFF"/>
                </a:solidFill>
                <a:latin typeface="Calibri" pitchFamily="34" charset="0"/>
                <a:ea typeface="Calibri" pitchFamily="34" charset="-122"/>
                <a:cs typeface="Calibri" pitchFamily="34" charset="-120"/>
              </a:rPr>
              <a:t>Are return rates significantly higher in specific countries?</a:t>
            </a:r>
            <a:endParaRPr lang="en-US" sz="1300" dirty="0"/>
          </a:p>
          <a:p>
            <a:pPr marL="0" indent="0">
              <a:buNone/>
            </a:pPr>
            <a:r>
              <a:rPr lang="en-US" sz="1300" b="1" dirty="0">
                <a:solidFill>
                  <a:srgbClr val="F4A261"/>
                </a:solidFill>
                <a:latin typeface="Calibri" pitchFamily="34" charset="0"/>
                <a:ea typeface="Calibri" pitchFamily="34" charset="-122"/>
                <a:cs typeface="Calibri" pitchFamily="34" charset="-120"/>
              </a:rPr>
              <a:t>Q2: </a:t>
            </a:r>
            <a:r>
              <a:rPr lang="en-US" sz="1300" dirty="0">
                <a:solidFill>
                  <a:srgbClr val="FFFFFF"/>
                </a:solidFill>
                <a:latin typeface="Calibri" pitchFamily="34" charset="0"/>
                <a:ea typeface="Calibri" pitchFamily="34" charset="-122"/>
                <a:cs typeface="Calibri" pitchFamily="34" charset="-120"/>
              </a:rPr>
              <a:t>Do return volumes vary seasonally across months or quarters?</a:t>
            </a:r>
            <a:endParaRPr lang="en-US" sz="1300" dirty="0"/>
          </a:p>
        </p:txBody>
      </p:sp>
      <p:sp>
        <p:nvSpPr>
          <p:cNvPr id="8" name="Text 6"/>
          <p:cNvSpPr/>
          <p:nvPr/>
        </p:nvSpPr>
        <p:spPr>
          <a:xfrm>
            <a:off x="548640" y="4480560"/>
            <a:ext cx="7315200" cy="320040"/>
          </a:xfrm>
          <a:prstGeom prst="rect">
            <a:avLst/>
          </a:prstGeom>
          <a:noFill/>
          <a:ln/>
        </p:spPr>
        <p:txBody>
          <a:bodyPr wrap="square" rtlCol="0" anchor="ctr"/>
          <a:lstStyle/>
          <a:p>
            <a:pPr marL="0" indent="0">
              <a:buNone/>
            </a:pPr>
            <a:r>
              <a:rPr lang="en-US" sz="1100" dirty="0">
                <a:solidFill>
                  <a:srgbClr val="556070"/>
                </a:solidFill>
                <a:latin typeface="Calibri" pitchFamily="34" charset="0"/>
                <a:ea typeface="Calibri" pitchFamily="34" charset="-122"/>
                <a:cs typeface="Calibri" pitchFamily="34" charset="-120"/>
              </a:rPr>
              <a:t>Sudarsh Mekkampurath Sajeev  |  Support: Sandra Raj Pattuvakkaran</a:t>
            </a:r>
            <a:endParaRPr lang="en-US" sz="1100" dirty="0"/>
          </a:p>
        </p:txBody>
      </p:sp>
      <p:sp>
        <p:nvSpPr>
          <p:cNvPr id="9" name="Shape 7"/>
          <p:cNvSpPr/>
          <p:nvPr/>
        </p:nvSpPr>
        <p:spPr>
          <a:xfrm>
            <a:off x="0" y="5074920"/>
            <a:ext cx="9144000" cy="68580"/>
          </a:xfrm>
          <a:prstGeom prst="rect">
            <a:avLst/>
          </a:prstGeom>
          <a:solidFill>
            <a:srgbClr val="2E86A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224CD-56D3-37A6-820A-DBAEF19CFA4B}"/>
              </a:ext>
            </a:extLst>
          </p:cNvPr>
          <p:cNvSpPr>
            <a:spLocks noGrp="1"/>
          </p:cNvSpPr>
          <p:nvPr>
            <p:ph type="title"/>
          </p:nvPr>
        </p:nvSpPr>
        <p:spPr>
          <a:xfrm>
            <a:off x="146563" y="189033"/>
            <a:ext cx="8595360" cy="692658"/>
          </a:xfrm>
        </p:spPr>
        <p:txBody>
          <a:bodyPr anchor="b">
            <a:noAutofit/>
          </a:bodyPr>
          <a:lstStyle/>
          <a:p>
            <a:r>
              <a:rPr lang="en-US" sz="3200" dirty="0"/>
              <a:t>Project Context, Business Problem, and Objectives</a:t>
            </a:r>
          </a:p>
        </p:txBody>
      </p:sp>
      <p:sp>
        <p:nvSpPr>
          <p:cNvPr id="4" name="Content Placeholder 3">
            <a:extLst>
              <a:ext uri="{FF2B5EF4-FFF2-40B4-BE49-F238E27FC236}">
                <a16:creationId xmlns:a16="http://schemas.microsoft.com/office/drawing/2014/main" id="{67D62D9B-0A95-A337-C083-6D8298130C5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8640" y="1035558"/>
            <a:ext cx="5143500" cy="3456432"/>
          </a:xfrm>
        </p:spPr>
        <p:txBody>
          <a:bodyPr>
            <a:normAutofit fontScale="62500" lnSpcReduction="20000"/>
          </a:bodyPr>
          <a:lstStyle/>
          <a:p>
            <a:pPr marL="0" indent="0">
              <a:spcBef>
                <a:spcPts val="1875"/>
              </a:spcBef>
              <a:buNone/>
            </a:pPr>
            <a:r>
              <a:rPr lang="en-US" b="1" dirty="0"/>
              <a:t>Business Problem Overview</a:t>
            </a:r>
          </a:p>
          <a:p>
            <a:pPr marL="0" lvl="1" indent="0">
              <a:buNone/>
            </a:pPr>
            <a:r>
              <a:rPr lang="en-US" dirty="0"/>
              <a:t>Understand what drives cancellations in online retail by examining patterns across products, customers, geography, and time.</a:t>
            </a:r>
          </a:p>
          <a:p>
            <a:pPr marL="0" indent="0">
              <a:spcBef>
                <a:spcPts val="1875"/>
              </a:spcBef>
              <a:buNone/>
            </a:pPr>
            <a:r>
              <a:rPr lang="en-US" b="1" dirty="0"/>
              <a:t>Project Execution Progress</a:t>
            </a:r>
          </a:p>
          <a:p>
            <a:pPr marL="0" lvl="1" indent="0">
              <a:buNone/>
            </a:pPr>
            <a:r>
              <a:rPr lang="en-US" dirty="0"/>
              <a:t>Project has moved from planning into execution with data prepared and initial in geography and time analyses completed.</a:t>
            </a:r>
          </a:p>
          <a:p>
            <a:pPr marL="0" indent="0">
              <a:spcBef>
                <a:spcPts val="1875"/>
              </a:spcBef>
              <a:buNone/>
            </a:pPr>
            <a:r>
              <a:rPr lang="en-US" b="1" dirty="0"/>
              <a:t>Objective and Rigor</a:t>
            </a:r>
          </a:p>
          <a:p>
            <a:pPr marL="0" lvl="1" indent="0">
              <a:buNone/>
            </a:pPr>
            <a:r>
              <a:rPr lang="en-US" dirty="0"/>
              <a:t>Demonstrate academic rigor, logical reasoning, and business relevance to support data-driven decision-making.</a:t>
            </a:r>
          </a:p>
        </p:txBody>
      </p:sp>
      <p:pic>
        <p:nvPicPr>
          <p:cNvPr id="5" name="Content Placeholder 4" descr="graphs and charts  Financial data analyzing">
            <a:extLst>
              <a:ext uri="{FF2B5EF4-FFF2-40B4-BE49-F238E27FC236}">
                <a16:creationId xmlns:a16="http://schemas.microsoft.com/office/drawing/2014/main" id="{9249C6A5-9D91-42C3-B3CA-17E83A21C724}"/>
              </a:ext>
            </a:extLst>
          </p:cNvPr>
          <p:cNvPicPr>
            <a:picLocks noGrp="1" noChangeAspect="1"/>
          </p:cNvPicPr>
          <p:nvPr>
            <p:ph type="pic" sz="quarter" idx="15"/>
          </p:nvPr>
        </p:nvPicPr>
        <p:blipFill>
          <a:blip r:embed="rId3"/>
          <a:srcRect l="29085" r="31335" b="2"/>
          <a:stretch>
            <a:fillRect/>
          </a:stretch>
        </p:blipFill>
        <p:spPr>
          <a:xfrm>
            <a:off x="6368345" y="452628"/>
            <a:ext cx="2313883" cy="3902202"/>
          </a:xfrm>
        </p:spPr>
      </p:pic>
    </p:spTree>
    <p:extLst>
      <p:ext uri="{BB962C8B-B14F-4D97-AF65-F5344CB8AC3E}">
        <p14:creationId xmlns:p14="http://schemas.microsoft.com/office/powerpoint/2010/main" val="39152511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02920" y="182880"/>
            <a:ext cx="8229600" cy="548640"/>
          </a:xfrm>
          <a:prstGeom prst="rect">
            <a:avLst/>
          </a:prstGeom>
          <a:noFill/>
          <a:ln/>
        </p:spPr>
        <p:txBody>
          <a:bodyPr wrap="square" lIns="0" tIns="0" rIns="0" bIns="0" rtlCol="0" anchor="ctr"/>
          <a:lstStyle/>
          <a:p>
            <a:pPr marL="0" indent="0">
              <a:buNone/>
            </a:pPr>
            <a:r>
              <a:rPr lang="en-US" sz="2200" b="1" dirty="0">
                <a:solidFill>
                  <a:srgbClr val="1A2E44"/>
                </a:solidFill>
                <a:latin typeface="Calibri" pitchFamily="34" charset="0"/>
                <a:ea typeface="Calibri" pitchFamily="34" charset="-122"/>
                <a:cs typeface="Calibri" pitchFamily="34" charset="-120"/>
              </a:rPr>
              <a:t>Dataset &amp; Preparation</a:t>
            </a:r>
            <a:endParaRPr lang="en-US" sz="2200" dirty="0"/>
          </a:p>
        </p:txBody>
      </p:sp>
      <p:sp>
        <p:nvSpPr>
          <p:cNvPr id="3" name="Text 1"/>
          <p:cNvSpPr/>
          <p:nvPr/>
        </p:nvSpPr>
        <p:spPr>
          <a:xfrm>
            <a:off x="502920" y="731520"/>
            <a:ext cx="8229600" cy="274320"/>
          </a:xfrm>
          <a:prstGeom prst="rect">
            <a:avLst/>
          </a:prstGeom>
          <a:noFill/>
          <a:ln/>
        </p:spPr>
        <p:txBody>
          <a:bodyPr wrap="square" lIns="0" tIns="0" rIns="0" bIns="0" rtlCol="0" anchor="ctr"/>
          <a:lstStyle/>
          <a:p>
            <a:pPr marL="0" indent="0">
              <a:buNone/>
            </a:pPr>
            <a:r>
              <a:rPr lang="en-US" sz="1200" dirty="0">
                <a:solidFill>
                  <a:srgbClr val="4A6080"/>
                </a:solidFill>
                <a:latin typeface="Calibri" pitchFamily="34" charset="0"/>
                <a:ea typeface="Calibri" pitchFamily="34" charset="-122"/>
                <a:cs typeface="Calibri" pitchFamily="34" charset="-120"/>
              </a:rPr>
              <a:t>Online Retail II — Full Two-Year Span</a:t>
            </a:r>
            <a:endParaRPr lang="en-US" sz="1200" dirty="0"/>
          </a:p>
        </p:txBody>
      </p:sp>
      <p:sp>
        <p:nvSpPr>
          <p:cNvPr id="4" name="Shape 2"/>
          <p:cNvSpPr/>
          <p:nvPr/>
        </p:nvSpPr>
        <p:spPr>
          <a:xfrm>
            <a:off x="502920" y="1051560"/>
            <a:ext cx="8138160" cy="0"/>
          </a:xfrm>
          <a:prstGeom prst="line">
            <a:avLst/>
          </a:prstGeom>
          <a:noFill/>
          <a:ln w="9525">
            <a:solidFill>
              <a:srgbClr val="D0DCE8"/>
            </a:solidFill>
            <a:prstDash val="solid"/>
          </a:ln>
        </p:spPr>
      </p:sp>
      <p:sp>
        <p:nvSpPr>
          <p:cNvPr id="5" name="Shape 3"/>
          <p:cNvSpPr/>
          <p:nvPr/>
        </p:nvSpPr>
        <p:spPr>
          <a:xfrm>
            <a:off x="320040" y="1188720"/>
            <a:ext cx="1920240" cy="1005840"/>
          </a:xfrm>
          <a:prstGeom prst="rect">
            <a:avLst/>
          </a:prstGeom>
          <a:solidFill>
            <a:srgbClr val="FFFFFF"/>
          </a:solidFill>
          <a:ln w="6350">
            <a:solidFill>
              <a:srgbClr val="D8E4F0"/>
            </a:solidFill>
            <a:prstDash val="solid"/>
          </a:ln>
          <a:effectLst>
            <a:outerShdw blurRad="101600" dist="25400" dir="8100000" algn="bl" rotWithShape="0">
              <a:srgbClr val="000000">
                <a:alpha val="12000"/>
              </a:srgbClr>
            </a:outerShdw>
          </a:effectLst>
        </p:spPr>
      </p:sp>
      <p:sp>
        <p:nvSpPr>
          <p:cNvPr id="6" name="Shape 4"/>
          <p:cNvSpPr/>
          <p:nvPr/>
        </p:nvSpPr>
        <p:spPr>
          <a:xfrm>
            <a:off x="320040" y="1188720"/>
            <a:ext cx="1920240" cy="64008"/>
          </a:xfrm>
          <a:prstGeom prst="rect">
            <a:avLst/>
          </a:prstGeom>
          <a:solidFill>
            <a:srgbClr val="2E86AB"/>
          </a:solidFill>
          <a:ln/>
        </p:spPr>
      </p:sp>
      <p:sp>
        <p:nvSpPr>
          <p:cNvPr id="7" name="Text 5"/>
          <p:cNvSpPr/>
          <p:nvPr/>
        </p:nvSpPr>
        <p:spPr>
          <a:xfrm>
            <a:off x="320040" y="1280160"/>
            <a:ext cx="1920240" cy="502920"/>
          </a:xfrm>
          <a:prstGeom prst="rect">
            <a:avLst/>
          </a:prstGeom>
          <a:noFill/>
          <a:ln/>
        </p:spPr>
        <p:txBody>
          <a:bodyPr wrap="square" rtlCol="0" anchor="ctr"/>
          <a:lstStyle/>
          <a:p>
            <a:pPr marL="0" indent="0" algn="ctr">
              <a:buNone/>
            </a:pPr>
            <a:r>
              <a:rPr lang="en-US" sz="1900" b="1" dirty="0">
                <a:solidFill>
                  <a:srgbClr val="1A2E44"/>
                </a:solidFill>
                <a:latin typeface="Calibri" pitchFamily="34" charset="0"/>
                <a:ea typeface="Calibri" pitchFamily="34" charset="-122"/>
                <a:cs typeface="Calibri" pitchFamily="34" charset="-120"/>
              </a:rPr>
              <a:t>1,048,575</a:t>
            </a:r>
            <a:endParaRPr lang="en-US" sz="1900" dirty="0"/>
          </a:p>
        </p:txBody>
      </p:sp>
      <p:sp>
        <p:nvSpPr>
          <p:cNvPr id="8" name="Text 6"/>
          <p:cNvSpPr/>
          <p:nvPr/>
        </p:nvSpPr>
        <p:spPr>
          <a:xfrm>
            <a:off x="320040" y="1764792"/>
            <a:ext cx="1920240" cy="320040"/>
          </a:xfrm>
          <a:prstGeom prst="rect">
            <a:avLst/>
          </a:prstGeom>
          <a:noFill/>
          <a:ln/>
        </p:spPr>
        <p:txBody>
          <a:bodyPr wrap="square" rtlCol="0" anchor="ctr"/>
          <a:lstStyle/>
          <a:p>
            <a:pPr marL="0" indent="0" algn="ctr">
              <a:buNone/>
            </a:pPr>
            <a:r>
              <a:rPr lang="en-US" sz="1100" dirty="0">
                <a:solidFill>
                  <a:srgbClr val="4A6080"/>
                </a:solidFill>
                <a:latin typeface="Calibri" pitchFamily="34" charset="0"/>
                <a:ea typeface="Calibri" pitchFamily="34" charset="-122"/>
                <a:cs typeface="Calibri" pitchFamily="34" charset="-120"/>
              </a:rPr>
              <a:t>Transactions</a:t>
            </a:r>
            <a:endParaRPr lang="en-US" sz="1100" dirty="0"/>
          </a:p>
        </p:txBody>
      </p:sp>
      <p:sp>
        <p:nvSpPr>
          <p:cNvPr id="9" name="Shape 7"/>
          <p:cNvSpPr/>
          <p:nvPr/>
        </p:nvSpPr>
        <p:spPr>
          <a:xfrm>
            <a:off x="2468880" y="1188720"/>
            <a:ext cx="1920240" cy="1005840"/>
          </a:xfrm>
          <a:prstGeom prst="rect">
            <a:avLst/>
          </a:prstGeom>
          <a:solidFill>
            <a:srgbClr val="FFFFFF"/>
          </a:solidFill>
          <a:ln w="6350">
            <a:solidFill>
              <a:srgbClr val="D8E4F0"/>
            </a:solidFill>
            <a:prstDash val="solid"/>
          </a:ln>
          <a:effectLst>
            <a:outerShdw blurRad="101600" dist="25400" dir="8100000" algn="bl" rotWithShape="0">
              <a:srgbClr val="000000">
                <a:alpha val="12000"/>
              </a:srgbClr>
            </a:outerShdw>
          </a:effectLst>
        </p:spPr>
      </p:sp>
      <p:sp>
        <p:nvSpPr>
          <p:cNvPr id="10" name="Shape 8"/>
          <p:cNvSpPr/>
          <p:nvPr/>
        </p:nvSpPr>
        <p:spPr>
          <a:xfrm>
            <a:off x="2468880" y="1188720"/>
            <a:ext cx="1920240" cy="64008"/>
          </a:xfrm>
          <a:prstGeom prst="rect">
            <a:avLst/>
          </a:prstGeom>
          <a:solidFill>
            <a:srgbClr val="E84855"/>
          </a:solidFill>
          <a:ln/>
        </p:spPr>
      </p:sp>
      <p:sp>
        <p:nvSpPr>
          <p:cNvPr id="11" name="Text 9"/>
          <p:cNvSpPr/>
          <p:nvPr/>
        </p:nvSpPr>
        <p:spPr>
          <a:xfrm>
            <a:off x="2468880" y="1280160"/>
            <a:ext cx="1920240" cy="502920"/>
          </a:xfrm>
          <a:prstGeom prst="rect">
            <a:avLst/>
          </a:prstGeom>
          <a:noFill/>
          <a:ln/>
        </p:spPr>
        <p:txBody>
          <a:bodyPr wrap="square" rtlCol="0" anchor="ctr"/>
          <a:lstStyle/>
          <a:p>
            <a:pPr marL="0" indent="0" algn="ctr">
              <a:buNone/>
            </a:pPr>
            <a:r>
              <a:rPr lang="en-US" sz="1900" b="1" dirty="0">
                <a:solidFill>
                  <a:srgbClr val="1A2E44"/>
                </a:solidFill>
                <a:latin typeface="Calibri" pitchFamily="34" charset="0"/>
                <a:ea typeface="Calibri" pitchFamily="34" charset="-122"/>
                <a:cs typeface="Calibri" pitchFamily="34" charset="-120"/>
              </a:rPr>
              <a:t>19,261 (1.8%)</a:t>
            </a:r>
            <a:endParaRPr lang="en-US" sz="1900" dirty="0"/>
          </a:p>
        </p:txBody>
      </p:sp>
      <p:sp>
        <p:nvSpPr>
          <p:cNvPr id="12" name="Text 10"/>
          <p:cNvSpPr/>
          <p:nvPr/>
        </p:nvSpPr>
        <p:spPr>
          <a:xfrm>
            <a:off x="2468880" y="1764792"/>
            <a:ext cx="1920240" cy="320040"/>
          </a:xfrm>
          <a:prstGeom prst="rect">
            <a:avLst/>
          </a:prstGeom>
          <a:noFill/>
          <a:ln/>
        </p:spPr>
        <p:txBody>
          <a:bodyPr wrap="square" rtlCol="0" anchor="ctr"/>
          <a:lstStyle/>
          <a:p>
            <a:pPr marL="0" indent="0" algn="ctr">
              <a:buNone/>
            </a:pPr>
            <a:r>
              <a:rPr lang="en-US" sz="1100" dirty="0">
                <a:solidFill>
                  <a:srgbClr val="4A6080"/>
                </a:solidFill>
                <a:latin typeface="Calibri" pitchFamily="34" charset="0"/>
                <a:ea typeface="Calibri" pitchFamily="34" charset="-122"/>
                <a:cs typeface="Calibri" pitchFamily="34" charset="-120"/>
              </a:rPr>
              <a:t>Cancellations</a:t>
            </a:r>
            <a:endParaRPr lang="en-US" sz="1100" dirty="0"/>
          </a:p>
        </p:txBody>
      </p:sp>
      <p:sp>
        <p:nvSpPr>
          <p:cNvPr id="13" name="Shape 11"/>
          <p:cNvSpPr/>
          <p:nvPr/>
        </p:nvSpPr>
        <p:spPr>
          <a:xfrm>
            <a:off x="4617720" y="1188720"/>
            <a:ext cx="1920240" cy="1005840"/>
          </a:xfrm>
          <a:prstGeom prst="rect">
            <a:avLst/>
          </a:prstGeom>
          <a:solidFill>
            <a:srgbClr val="FFFFFF"/>
          </a:solidFill>
          <a:ln w="6350">
            <a:solidFill>
              <a:srgbClr val="D8E4F0"/>
            </a:solidFill>
            <a:prstDash val="solid"/>
          </a:ln>
          <a:effectLst>
            <a:outerShdw blurRad="101600" dist="25400" dir="8100000" algn="bl" rotWithShape="0">
              <a:srgbClr val="000000">
                <a:alpha val="12000"/>
              </a:srgbClr>
            </a:outerShdw>
          </a:effectLst>
        </p:spPr>
      </p:sp>
      <p:sp>
        <p:nvSpPr>
          <p:cNvPr id="14" name="Shape 12"/>
          <p:cNvSpPr/>
          <p:nvPr/>
        </p:nvSpPr>
        <p:spPr>
          <a:xfrm>
            <a:off x="4617720" y="1188720"/>
            <a:ext cx="1920240" cy="64008"/>
          </a:xfrm>
          <a:prstGeom prst="rect">
            <a:avLst/>
          </a:prstGeom>
          <a:solidFill>
            <a:srgbClr val="F4A261"/>
          </a:solidFill>
          <a:ln/>
        </p:spPr>
      </p:sp>
      <p:sp>
        <p:nvSpPr>
          <p:cNvPr id="15" name="Text 13"/>
          <p:cNvSpPr/>
          <p:nvPr/>
        </p:nvSpPr>
        <p:spPr>
          <a:xfrm>
            <a:off x="4617720" y="1280160"/>
            <a:ext cx="1920240" cy="502920"/>
          </a:xfrm>
          <a:prstGeom prst="rect">
            <a:avLst/>
          </a:prstGeom>
          <a:noFill/>
          <a:ln/>
        </p:spPr>
        <p:txBody>
          <a:bodyPr wrap="square" rtlCol="0" anchor="ctr"/>
          <a:lstStyle/>
          <a:p>
            <a:pPr marL="0" indent="0" algn="ctr">
              <a:buNone/>
            </a:pPr>
            <a:r>
              <a:rPr lang="en-US" sz="1900" b="1" dirty="0">
                <a:solidFill>
                  <a:srgbClr val="1A2E44"/>
                </a:solidFill>
                <a:latin typeface="Calibri" pitchFamily="34" charset="0"/>
                <a:ea typeface="Calibri" pitchFamily="34" charset="-122"/>
                <a:cs typeface="Calibri" pitchFamily="34" charset="-120"/>
              </a:rPr>
              <a:t>43</a:t>
            </a:r>
            <a:endParaRPr lang="en-US" sz="1900" dirty="0"/>
          </a:p>
        </p:txBody>
      </p:sp>
      <p:sp>
        <p:nvSpPr>
          <p:cNvPr id="16" name="Text 14"/>
          <p:cNvSpPr/>
          <p:nvPr/>
        </p:nvSpPr>
        <p:spPr>
          <a:xfrm>
            <a:off x="4617720" y="1764792"/>
            <a:ext cx="1920240" cy="320040"/>
          </a:xfrm>
          <a:prstGeom prst="rect">
            <a:avLst/>
          </a:prstGeom>
          <a:noFill/>
          <a:ln/>
        </p:spPr>
        <p:txBody>
          <a:bodyPr wrap="square" rtlCol="0" anchor="ctr"/>
          <a:lstStyle/>
          <a:p>
            <a:pPr marL="0" indent="0" algn="ctr">
              <a:buNone/>
            </a:pPr>
            <a:r>
              <a:rPr lang="en-US" sz="1100" dirty="0">
                <a:solidFill>
                  <a:srgbClr val="4A6080"/>
                </a:solidFill>
                <a:latin typeface="Calibri" pitchFamily="34" charset="0"/>
                <a:ea typeface="Calibri" pitchFamily="34" charset="-122"/>
                <a:cs typeface="Calibri" pitchFamily="34" charset="-120"/>
              </a:rPr>
              <a:t>Countries</a:t>
            </a:r>
            <a:endParaRPr lang="en-US" sz="1100" dirty="0"/>
          </a:p>
        </p:txBody>
      </p:sp>
      <p:sp>
        <p:nvSpPr>
          <p:cNvPr id="17" name="Shape 15"/>
          <p:cNvSpPr/>
          <p:nvPr/>
        </p:nvSpPr>
        <p:spPr>
          <a:xfrm>
            <a:off x="6766560" y="1188720"/>
            <a:ext cx="1920240" cy="1005840"/>
          </a:xfrm>
          <a:prstGeom prst="rect">
            <a:avLst/>
          </a:prstGeom>
          <a:solidFill>
            <a:srgbClr val="FFFFFF"/>
          </a:solidFill>
          <a:ln w="6350">
            <a:solidFill>
              <a:srgbClr val="D8E4F0"/>
            </a:solidFill>
            <a:prstDash val="solid"/>
          </a:ln>
          <a:effectLst>
            <a:outerShdw blurRad="101600" dist="25400" dir="8100000" algn="bl" rotWithShape="0">
              <a:srgbClr val="000000">
                <a:alpha val="12000"/>
              </a:srgbClr>
            </a:outerShdw>
          </a:effectLst>
        </p:spPr>
      </p:sp>
      <p:sp>
        <p:nvSpPr>
          <p:cNvPr id="18" name="Shape 16"/>
          <p:cNvSpPr/>
          <p:nvPr/>
        </p:nvSpPr>
        <p:spPr>
          <a:xfrm>
            <a:off x="6766560" y="1188720"/>
            <a:ext cx="1920240" cy="64008"/>
          </a:xfrm>
          <a:prstGeom prst="rect">
            <a:avLst/>
          </a:prstGeom>
          <a:solidFill>
            <a:srgbClr val="4CAF50"/>
          </a:solidFill>
          <a:ln/>
        </p:spPr>
      </p:sp>
      <p:sp>
        <p:nvSpPr>
          <p:cNvPr id="19" name="Text 17"/>
          <p:cNvSpPr/>
          <p:nvPr/>
        </p:nvSpPr>
        <p:spPr>
          <a:xfrm>
            <a:off x="6766560" y="1280160"/>
            <a:ext cx="1920240" cy="502920"/>
          </a:xfrm>
          <a:prstGeom prst="rect">
            <a:avLst/>
          </a:prstGeom>
          <a:noFill/>
          <a:ln/>
        </p:spPr>
        <p:txBody>
          <a:bodyPr wrap="square" rtlCol="0" anchor="ctr"/>
          <a:lstStyle/>
          <a:p>
            <a:pPr marL="0" indent="0" algn="ctr">
              <a:buNone/>
            </a:pPr>
            <a:r>
              <a:rPr lang="en-US" sz="1900" b="1" dirty="0">
                <a:solidFill>
                  <a:srgbClr val="1A2E44"/>
                </a:solidFill>
                <a:latin typeface="Calibri" pitchFamily="34" charset="0"/>
                <a:ea typeface="Calibri" pitchFamily="34" charset="-122"/>
                <a:cs typeface="Calibri" pitchFamily="34" charset="-120"/>
              </a:rPr>
              <a:t>£1.29M</a:t>
            </a:r>
            <a:endParaRPr lang="en-US" sz="1900" dirty="0"/>
          </a:p>
        </p:txBody>
      </p:sp>
      <p:sp>
        <p:nvSpPr>
          <p:cNvPr id="20" name="Text 18"/>
          <p:cNvSpPr/>
          <p:nvPr/>
        </p:nvSpPr>
        <p:spPr>
          <a:xfrm>
            <a:off x="6766560" y="1764792"/>
            <a:ext cx="1920240" cy="320040"/>
          </a:xfrm>
          <a:prstGeom prst="rect">
            <a:avLst/>
          </a:prstGeom>
          <a:noFill/>
          <a:ln/>
        </p:spPr>
        <p:txBody>
          <a:bodyPr wrap="square" rtlCol="0" anchor="ctr"/>
          <a:lstStyle/>
          <a:p>
            <a:pPr marL="0" indent="0" algn="ctr">
              <a:buNone/>
            </a:pPr>
            <a:r>
              <a:rPr lang="en-US" sz="1100" dirty="0">
                <a:solidFill>
                  <a:srgbClr val="4A6080"/>
                </a:solidFill>
                <a:latin typeface="Calibri" pitchFamily="34" charset="0"/>
                <a:ea typeface="Calibri" pitchFamily="34" charset="-122"/>
                <a:cs typeface="Calibri" pitchFamily="34" charset="-120"/>
              </a:rPr>
              <a:t>Cancel Loss</a:t>
            </a:r>
            <a:endParaRPr lang="en-US" sz="1100" dirty="0"/>
          </a:p>
        </p:txBody>
      </p:sp>
      <p:sp>
        <p:nvSpPr>
          <p:cNvPr id="21" name="Text 19"/>
          <p:cNvSpPr/>
          <p:nvPr/>
        </p:nvSpPr>
        <p:spPr>
          <a:xfrm>
            <a:off x="2743200" y="2331720"/>
            <a:ext cx="3657600" cy="320040"/>
          </a:xfrm>
          <a:prstGeom prst="rect">
            <a:avLst/>
          </a:prstGeom>
          <a:noFill/>
          <a:ln/>
        </p:spPr>
        <p:txBody>
          <a:bodyPr wrap="square" rtlCol="0" anchor="ctr"/>
          <a:lstStyle/>
          <a:p>
            <a:pPr marL="0" indent="0" algn="ctr">
              <a:buNone/>
            </a:pPr>
            <a:r>
              <a:rPr lang="en-US" sz="1200" b="1" dirty="0">
                <a:solidFill>
                  <a:srgbClr val="2E86AB"/>
                </a:solidFill>
                <a:latin typeface="Calibri" pitchFamily="34" charset="0"/>
                <a:ea typeface="Calibri" pitchFamily="34" charset="-122"/>
                <a:cs typeface="Calibri" pitchFamily="34" charset="-120"/>
              </a:rPr>
              <a:t>Dec 2009 → Dec 2011  •  2 Full Years</a:t>
            </a:r>
            <a:endParaRPr lang="en-US" sz="1200" dirty="0"/>
          </a:p>
        </p:txBody>
      </p:sp>
      <p:sp>
        <p:nvSpPr>
          <p:cNvPr id="22" name="Text 20"/>
          <p:cNvSpPr/>
          <p:nvPr/>
        </p:nvSpPr>
        <p:spPr>
          <a:xfrm>
            <a:off x="320040" y="2743200"/>
            <a:ext cx="3840480" cy="320040"/>
          </a:xfrm>
          <a:prstGeom prst="rect">
            <a:avLst/>
          </a:prstGeom>
          <a:noFill/>
          <a:ln/>
        </p:spPr>
        <p:txBody>
          <a:bodyPr wrap="square" lIns="0" tIns="0" rIns="0" bIns="0" rtlCol="0" anchor="ctr"/>
          <a:lstStyle/>
          <a:p>
            <a:pPr marL="0" indent="0">
              <a:buNone/>
            </a:pPr>
            <a:r>
              <a:rPr lang="en-US" sz="1400" b="1" dirty="0">
                <a:solidFill>
                  <a:srgbClr val="1A2E44"/>
                </a:solidFill>
                <a:latin typeface="Calibri" pitchFamily="34" charset="0"/>
                <a:ea typeface="Calibri" pitchFamily="34" charset="-122"/>
                <a:cs typeface="Calibri" pitchFamily="34" charset="-120"/>
              </a:rPr>
              <a:t>Data Cleaning Steps</a:t>
            </a:r>
            <a:endParaRPr lang="en-US" sz="1400" dirty="0"/>
          </a:p>
        </p:txBody>
      </p:sp>
      <p:sp>
        <p:nvSpPr>
          <p:cNvPr id="23" name="Text 21"/>
          <p:cNvSpPr/>
          <p:nvPr/>
        </p:nvSpPr>
        <p:spPr>
          <a:xfrm>
            <a:off x="320040" y="3108960"/>
            <a:ext cx="4023360" cy="1645920"/>
          </a:xfrm>
          <a:prstGeom prst="rect">
            <a:avLst/>
          </a:prstGeom>
          <a:noFill/>
          <a:ln/>
        </p:spPr>
        <p:txBody>
          <a:bodyPr wrap="square" rtlCol="0" anchor="ctr"/>
          <a:lstStyle/>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Removed zero-price rows (system adjustments, not real sales)</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Removed non-product codes: POST, Discount, Manual, D</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Combined two cancellation signals: C-prefix invoices + negative quantities</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Created unified Is_Return flag for consistent analysis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02920" y="182880"/>
            <a:ext cx="8229600" cy="548640"/>
          </a:xfrm>
          <a:prstGeom prst="rect">
            <a:avLst/>
          </a:prstGeom>
          <a:noFill/>
          <a:ln/>
        </p:spPr>
        <p:txBody>
          <a:bodyPr wrap="square" lIns="0" tIns="0" rIns="0" bIns="0" rtlCol="0" anchor="ctr"/>
          <a:lstStyle/>
          <a:p>
            <a:pPr marL="0" indent="0">
              <a:buNone/>
            </a:pPr>
            <a:r>
              <a:rPr lang="en-US" sz="2200" b="1" dirty="0">
                <a:solidFill>
                  <a:srgbClr val="1A2E44"/>
                </a:solidFill>
                <a:latin typeface="Calibri" pitchFamily="34" charset="0"/>
                <a:ea typeface="Calibri" pitchFamily="34" charset="-122"/>
                <a:cs typeface="Calibri" pitchFamily="34" charset="-120"/>
              </a:rPr>
              <a:t>Q1: Are Return Rates Significantly Higher in Specific Countries?</a:t>
            </a:r>
            <a:endParaRPr lang="en-US" sz="2200" dirty="0"/>
          </a:p>
        </p:txBody>
      </p:sp>
      <p:sp>
        <p:nvSpPr>
          <p:cNvPr id="3" name="Text 1"/>
          <p:cNvSpPr/>
          <p:nvPr/>
        </p:nvSpPr>
        <p:spPr>
          <a:xfrm>
            <a:off x="502920" y="731520"/>
            <a:ext cx="8229600" cy="274320"/>
          </a:xfrm>
          <a:prstGeom prst="rect">
            <a:avLst/>
          </a:prstGeom>
          <a:noFill/>
          <a:ln/>
        </p:spPr>
        <p:txBody>
          <a:bodyPr wrap="square" lIns="0" tIns="0" rIns="0" bIns="0" rtlCol="0" anchor="ctr"/>
          <a:lstStyle/>
          <a:p>
            <a:pPr marL="0" indent="0">
              <a:buNone/>
            </a:pPr>
            <a:r>
              <a:rPr lang="en-US" sz="1200" dirty="0">
                <a:solidFill>
                  <a:srgbClr val="4A6080"/>
                </a:solidFill>
                <a:latin typeface="Calibri" pitchFamily="34" charset="0"/>
                <a:ea typeface="Calibri" pitchFamily="34" charset="-122"/>
                <a:cs typeface="Calibri" pitchFamily="34" charset="-120"/>
              </a:rPr>
              <a:t>Answer: YES — two distinct types of risk confirmed statistically</a:t>
            </a:r>
            <a:endParaRPr lang="en-US" sz="1200" dirty="0"/>
          </a:p>
        </p:txBody>
      </p:sp>
      <p:sp>
        <p:nvSpPr>
          <p:cNvPr id="4" name="Shape 2"/>
          <p:cNvSpPr/>
          <p:nvPr/>
        </p:nvSpPr>
        <p:spPr>
          <a:xfrm>
            <a:off x="502920" y="1051560"/>
            <a:ext cx="8138160" cy="0"/>
          </a:xfrm>
          <a:prstGeom prst="line">
            <a:avLst/>
          </a:prstGeom>
          <a:noFill/>
          <a:ln w="9525">
            <a:solidFill>
              <a:srgbClr val="D0DCE8"/>
            </a:solidFill>
            <a:prstDash val="solid"/>
          </a:ln>
        </p:spPr>
      </p:sp>
      <p:sp>
        <p:nvSpPr>
          <p:cNvPr id="5" name="Shape 3"/>
          <p:cNvSpPr/>
          <p:nvPr/>
        </p:nvSpPr>
        <p:spPr>
          <a:xfrm>
            <a:off x="320040" y="1188720"/>
            <a:ext cx="1280160" cy="457200"/>
          </a:xfrm>
          <a:prstGeom prst="rect">
            <a:avLst/>
          </a:prstGeom>
          <a:solidFill>
            <a:srgbClr val="4CAF50"/>
          </a:solidFill>
          <a:ln w="12700">
            <a:solidFill>
              <a:srgbClr val="4CAF50"/>
            </a:solidFill>
            <a:prstDash val="solid"/>
          </a:ln>
        </p:spPr>
      </p:sp>
      <p:sp>
        <p:nvSpPr>
          <p:cNvPr id="6" name="Text 4"/>
          <p:cNvSpPr/>
          <p:nvPr/>
        </p:nvSpPr>
        <p:spPr>
          <a:xfrm>
            <a:off x="320040" y="1188720"/>
            <a:ext cx="128016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YES</a:t>
            </a:r>
            <a:endParaRPr lang="en-US" sz="1800" dirty="0"/>
          </a:p>
        </p:txBody>
      </p:sp>
      <p:sp>
        <p:nvSpPr>
          <p:cNvPr id="7" name="Shape 5"/>
          <p:cNvSpPr/>
          <p:nvPr/>
        </p:nvSpPr>
        <p:spPr>
          <a:xfrm>
            <a:off x="320040" y="1783080"/>
            <a:ext cx="4023360" cy="2103120"/>
          </a:xfrm>
          <a:prstGeom prst="rect">
            <a:avLst/>
          </a:prstGeom>
          <a:solidFill>
            <a:srgbClr val="FFFFFF"/>
          </a:solidFill>
          <a:ln w="6350">
            <a:solidFill>
              <a:srgbClr val="F0D0D0"/>
            </a:solidFill>
            <a:prstDash val="solid"/>
          </a:ln>
          <a:effectLst>
            <a:outerShdw blurRad="101600" dist="25400" dir="8100000" algn="bl" rotWithShape="0">
              <a:srgbClr val="000000">
                <a:alpha val="12000"/>
              </a:srgbClr>
            </a:outerShdw>
          </a:effectLst>
        </p:spPr>
      </p:sp>
      <p:sp>
        <p:nvSpPr>
          <p:cNvPr id="8" name="Shape 6"/>
          <p:cNvSpPr/>
          <p:nvPr/>
        </p:nvSpPr>
        <p:spPr>
          <a:xfrm>
            <a:off x="320040" y="1783080"/>
            <a:ext cx="54864" cy="2103120"/>
          </a:xfrm>
          <a:prstGeom prst="rect">
            <a:avLst/>
          </a:prstGeom>
          <a:solidFill>
            <a:srgbClr val="E84855"/>
          </a:solidFill>
          <a:ln/>
        </p:spPr>
      </p:sp>
      <p:sp>
        <p:nvSpPr>
          <p:cNvPr id="9" name="Text 7"/>
          <p:cNvSpPr/>
          <p:nvPr/>
        </p:nvSpPr>
        <p:spPr>
          <a:xfrm>
            <a:off x="457200" y="1828800"/>
            <a:ext cx="3749040" cy="320040"/>
          </a:xfrm>
          <a:prstGeom prst="rect">
            <a:avLst/>
          </a:prstGeom>
          <a:noFill/>
          <a:ln/>
        </p:spPr>
        <p:txBody>
          <a:bodyPr wrap="square" lIns="0" tIns="0" rIns="0" bIns="0" rtlCol="0" anchor="ctr"/>
          <a:lstStyle/>
          <a:p>
            <a:pPr marL="0" indent="0">
              <a:buNone/>
            </a:pPr>
            <a:r>
              <a:rPr lang="en-US" sz="1300" b="1" dirty="0">
                <a:solidFill>
                  <a:srgbClr val="E84855"/>
                </a:solidFill>
                <a:latin typeface="Calibri" pitchFamily="34" charset="0"/>
                <a:ea typeface="Calibri" pitchFamily="34" charset="-122"/>
                <a:cs typeface="Calibri" pitchFamily="34" charset="-120"/>
              </a:rPr>
              <a:t>VOLUME RISK</a:t>
            </a:r>
            <a:endParaRPr lang="en-US" sz="1300" dirty="0"/>
          </a:p>
        </p:txBody>
      </p:sp>
      <p:sp>
        <p:nvSpPr>
          <p:cNvPr id="10" name="Text 8"/>
          <p:cNvSpPr/>
          <p:nvPr/>
        </p:nvSpPr>
        <p:spPr>
          <a:xfrm>
            <a:off x="457200" y="2148840"/>
            <a:ext cx="3749040" cy="365760"/>
          </a:xfrm>
          <a:prstGeom prst="rect">
            <a:avLst/>
          </a:prstGeom>
          <a:noFill/>
          <a:ln/>
        </p:spPr>
        <p:txBody>
          <a:bodyPr wrap="square" lIns="0" tIns="0" rIns="0" bIns="0" rtlCol="0" anchor="ctr"/>
          <a:lstStyle/>
          <a:p>
            <a:pPr marL="0" indent="0">
              <a:buNone/>
            </a:pPr>
            <a:r>
              <a:rPr lang="en-US" sz="1800" b="1" dirty="0">
                <a:solidFill>
                  <a:srgbClr val="1A2E44"/>
                </a:solidFill>
                <a:latin typeface="Calibri" pitchFamily="34" charset="0"/>
                <a:ea typeface="Calibri" pitchFamily="34" charset="-122"/>
                <a:cs typeface="Calibri" pitchFamily="34" charset="-120"/>
              </a:rPr>
              <a:t>United Kingdom</a:t>
            </a:r>
            <a:endParaRPr lang="en-US" sz="1800" dirty="0"/>
          </a:p>
        </p:txBody>
      </p:sp>
      <p:sp>
        <p:nvSpPr>
          <p:cNvPr id="11" name="Text 9"/>
          <p:cNvSpPr/>
          <p:nvPr/>
        </p:nvSpPr>
        <p:spPr>
          <a:xfrm>
            <a:off x="457200" y="2514600"/>
            <a:ext cx="3749040" cy="1234440"/>
          </a:xfrm>
          <a:prstGeom prst="rect">
            <a:avLst/>
          </a:prstGeom>
          <a:noFill/>
          <a:ln/>
        </p:spPr>
        <p:txBody>
          <a:bodyPr wrap="square" rtlCol="0" anchor="ctr"/>
          <a:lstStyle/>
          <a:p>
            <a:pPr marL="0" indent="0">
              <a:buNone/>
            </a:pPr>
            <a:r>
              <a:rPr lang="en-US" sz="2000" b="1" dirty="0">
                <a:solidFill>
                  <a:srgbClr val="E84855"/>
                </a:solidFill>
                <a:latin typeface="Calibri" pitchFamily="34" charset="0"/>
                <a:ea typeface="Calibri" pitchFamily="34" charset="-122"/>
                <a:cs typeface="Calibri" pitchFamily="34" charset="-120"/>
              </a:rPr>
              <a:t>£1,104,222</a:t>
            </a:r>
            <a:endParaRPr lang="en-US" sz="2000" dirty="0"/>
          </a:p>
          <a:p>
            <a:pPr marL="0" indent="0">
              <a:buNone/>
            </a:pPr>
            <a:r>
              <a:rPr lang="en-US" sz="1200" dirty="0">
                <a:solidFill>
                  <a:srgbClr val="4A6080"/>
                </a:solidFill>
                <a:latin typeface="Calibri" pitchFamily="34" charset="0"/>
                <a:ea typeface="Calibri" pitchFamily="34" charset="-122"/>
                <a:cs typeface="Calibri" pitchFamily="34" charset="-120"/>
              </a:rPr>
              <a:t>85.3% of all losses</a:t>
            </a:r>
            <a:endParaRPr lang="en-US" sz="2000" dirty="0"/>
          </a:p>
          <a:p>
            <a:pPr marL="0" indent="0">
              <a:buNone/>
            </a:pPr>
            <a:r>
              <a:rPr lang="en-US" sz="1200" dirty="0">
                <a:solidFill>
                  <a:srgbClr val="1A2E44"/>
                </a:solidFill>
                <a:latin typeface="Calibri" pitchFamily="34" charset="0"/>
                <a:ea typeface="Calibri" pitchFamily="34" charset="-122"/>
                <a:cs typeface="Calibri" pitchFamily="34" charset="-120"/>
              </a:rPr>
              <a:t>Cancel rate: 16.4% (moderate)</a:t>
            </a:r>
            <a:endParaRPr lang="en-US" sz="2000" dirty="0"/>
          </a:p>
          <a:p>
            <a:pPr marL="0" indent="0">
              <a:buNone/>
            </a:pPr>
            <a:r>
              <a:rPr lang="en-US" sz="1100" dirty="0">
                <a:solidFill>
                  <a:srgbClr val="4A6080"/>
                </a:solidFill>
                <a:latin typeface="Calibri" pitchFamily="34" charset="0"/>
                <a:ea typeface="Calibri" pitchFamily="34" charset="-122"/>
                <a:cs typeface="Calibri" pitchFamily="34" charset="-120"/>
              </a:rPr>
              <a:t>Risk driven by SCALE, not behaviour</a:t>
            </a:r>
            <a:endParaRPr lang="en-US" sz="2000" dirty="0"/>
          </a:p>
        </p:txBody>
      </p:sp>
      <p:sp>
        <p:nvSpPr>
          <p:cNvPr id="12" name="Shape 10"/>
          <p:cNvSpPr/>
          <p:nvPr/>
        </p:nvSpPr>
        <p:spPr>
          <a:xfrm>
            <a:off x="4754880" y="1783080"/>
            <a:ext cx="4023360" cy="2103120"/>
          </a:xfrm>
          <a:prstGeom prst="rect">
            <a:avLst/>
          </a:prstGeom>
          <a:solidFill>
            <a:srgbClr val="FFFFFF"/>
          </a:solidFill>
          <a:ln w="6350">
            <a:solidFill>
              <a:srgbClr val="D0D8F0"/>
            </a:solidFill>
            <a:prstDash val="solid"/>
          </a:ln>
          <a:effectLst>
            <a:outerShdw blurRad="101600" dist="25400" dir="8100000" algn="bl" rotWithShape="0">
              <a:srgbClr val="000000">
                <a:alpha val="12000"/>
              </a:srgbClr>
            </a:outerShdw>
          </a:effectLst>
        </p:spPr>
      </p:sp>
      <p:sp>
        <p:nvSpPr>
          <p:cNvPr id="13" name="Shape 11"/>
          <p:cNvSpPr/>
          <p:nvPr/>
        </p:nvSpPr>
        <p:spPr>
          <a:xfrm>
            <a:off x="4754880" y="1783080"/>
            <a:ext cx="54864" cy="2103120"/>
          </a:xfrm>
          <a:prstGeom prst="rect">
            <a:avLst/>
          </a:prstGeom>
          <a:solidFill>
            <a:srgbClr val="2E86AB"/>
          </a:solidFill>
          <a:ln/>
        </p:spPr>
      </p:sp>
      <p:sp>
        <p:nvSpPr>
          <p:cNvPr id="14" name="Text 12"/>
          <p:cNvSpPr/>
          <p:nvPr/>
        </p:nvSpPr>
        <p:spPr>
          <a:xfrm>
            <a:off x="4892040" y="1828800"/>
            <a:ext cx="3749040" cy="320040"/>
          </a:xfrm>
          <a:prstGeom prst="rect">
            <a:avLst/>
          </a:prstGeom>
          <a:noFill/>
          <a:ln/>
        </p:spPr>
        <p:txBody>
          <a:bodyPr wrap="square" lIns="0" tIns="0" rIns="0" bIns="0" rtlCol="0" anchor="ctr"/>
          <a:lstStyle/>
          <a:p>
            <a:pPr marL="0" indent="0">
              <a:buNone/>
            </a:pPr>
            <a:r>
              <a:rPr lang="en-US" sz="1300" b="1" dirty="0">
                <a:solidFill>
                  <a:srgbClr val="2E86AB"/>
                </a:solidFill>
                <a:latin typeface="Calibri" pitchFamily="34" charset="0"/>
                <a:ea typeface="Calibri" pitchFamily="34" charset="-122"/>
                <a:cs typeface="Calibri" pitchFamily="34" charset="-120"/>
              </a:rPr>
              <a:t>STRUCTURAL RISK</a:t>
            </a:r>
            <a:endParaRPr lang="en-US" sz="1300" dirty="0"/>
          </a:p>
        </p:txBody>
      </p:sp>
      <p:sp>
        <p:nvSpPr>
          <p:cNvPr id="15" name="Text 13"/>
          <p:cNvSpPr/>
          <p:nvPr/>
        </p:nvSpPr>
        <p:spPr>
          <a:xfrm>
            <a:off x="4892040" y="2148840"/>
            <a:ext cx="3749040" cy="365760"/>
          </a:xfrm>
          <a:prstGeom prst="rect">
            <a:avLst/>
          </a:prstGeom>
          <a:noFill/>
          <a:ln/>
        </p:spPr>
        <p:txBody>
          <a:bodyPr wrap="square" lIns="0" tIns="0" rIns="0" bIns="0" rtlCol="0" anchor="ctr"/>
          <a:lstStyle/>
          <a:p>
            <a:pPr marL="0" indent="0">
              <a:buNone/>
            </a:pPr>
            <a:r>
              <a:rPr lang="en-US" sz="1400" b="1" dirty="0">
                <a:solidFill>
                  <a:srgbClr val="1A2E44"/>
                </a:solidFill>
                <a:latin typeface="Calibri" pitchFamily="34" charset="0"/>
                <a:ea typeface="Calibri" pitchFamily="34" charset="-122"/>
                <a:cs typeface="Calibri" pitchFamily="34" charset="-120"/>
              </a:rPr>
              <a:t>Germany  |  EIRE  |  Japan  |  Malta</a:t>
            </a:r>
            <a:endParaRPr lang="en-US" sz="1400" dirty="0"/>
          </a:p>
        </p:txBody>
      </p:sp>
      <p:sp>
        <p:nvSpPr>
          <p:cNvPr id="16" name="Text 14"/>
          <p:cNvSpPr/>
          <p:nvPr/>
        </p:nvSpPr>
        <p:spPr>
          <a:xfrm>
            <a:off x="4892040" y="2514600"/>
            <a:ext cx="3749040" cy="1325880"/>
          </a:xfrm>
          <a:prstGeom prst="rect">
            <a:avLst/>
          </a:prstGeom>
          <a:noFill/>
          <a:ln/>
        </p:spPr>
        <p:txBody>
          <a:bodyPr wrap="square" rtlCol="0" anchor="ctr"/>
          <a:lstStyle/>
          <a:p>
            <a:pPr marL="0" indent="0">
              <a:buNone/>
            </a:pPr>
            <a:r>
              <a:rPr lang="en-US" sz="1200" dirty="0">
                <a:solidFill>
                  <a:srgbClr val="1A2E44"/>
                </a:solidFill>
                <a:latin typeface="Calibri" pitchFamily="34" charset="0"/>
                <a:ea typeface="Calibri" pitchFamily="34" charset="-122"/>
                <a:cs typeface="Calibri" pitchFamily="34" charset="-120"/>
              </a:rPr>
              <a:t>Germany: 27.9% rate (chi²=1249, p=0.000)</a:t>
            </a:r>
            <a:endParaRPr lang="en-US" sz="1200" dirty="0"/>
          </a:p>
          <a:p>
            <a:pPr marL="0" indent="0">
              <a:buNone/>
            </a:pPr>
            <a:r>
              <a:rPr lang="en-US" sz="1200" dirty="0">
                <a:solidFill>
                  <a:srgbClr val="1A2E44"/>
                </a:solidFill>
                <a:latin typeface="Calibri" pitchFamily="34" charset="0"/>
                <a:ea typeface="Calibri" pitchFamily="34" charset="-122"/>
                <a:cs typeface="Calibri" pitchFamily="34" charset="-120"/>
              </a:rPr>
              <a:t>EIRE: 22.3% rate (chi²=148, p=0.000)</a:t>
            </a:r>
            <a:endParaRPr lang="en-US" sz="1200" dirty="0"/>
          </a:p>
          <a:p>
            <a:pPr marL="0" indent="0">
              <a:buNone/>
            </a:pPr>
            <a:r>
              <a:rPr lang="en-US" sz="1100" dirty="0">
                <a:solidFill>
                  <a:srgbClr val="F4A261"/>
                </a:solidFill>
                <a:latin typeface="Calibri" pitchFamily="34" charset="0"/>
                <a:ea typeface="Calibri" pitchFamily="34" charset="-122"/>
                <a:cs typeface="Calibri" pitchFamily="34" charset="-120"/>
              </a:rPr>
              <a:t>Japan: 40.0% — ⚠ small sample (55 invoices)</a:t>
            </a:r>
            <a:endParaRPr lang="en-US" sz="1200" dirty="0"/>
          </a:p>
          <a:p>
            <a:pPr marL="0" indent="0">
              <a:buNone/>
            </a:pPr>
            <a:r>
              <a:rPr lang="en-US" sz="1100" dirty="0">
                <a:solidFill>
                  <a:srgbClr val="F4A261"/>
                </a:solidFill>
                <a:latin typeface="Calibri" pitchFamily="34" charset="0"/>
                <a:ea typeface="Calibri" pitchFamily="34" charset="-122"/>
                <a:cs typeface="Calibri" pitchFamily="34" charset="-120"/>
              </a:rPr>
              <a:t>Malta: 40.0% — ⚠ small sample (15 invoices)</a:t>
            </a:r>
            <a:endParaRPr lang="en-US" sz="1200" dirty="0"/>
          </a:p>
        </p:txBody>
      </p:sp>
      <p:sp>
        <p:nvSpPr>
          <p:cNvPr id="17" name="Shape 15"/>
          <p:cNvSpPr/>
          <p:nvPr/>
        </p:nvSpPr>
        <p:spPr>
          <a:xfrm>
            <a:off x="320040" y="4023360"/>
            <a:ext cx="8458200" cy="685800"/>
          </a:xfrm>
          <a:prstGeom prst="rect">
            <a:avLst/>
          </a:prstGeom>
          <a:solidFill>
            <a:srgbClr val="F0F8FF"/>
          </a:solidFill>
          <a:ln w="6350">
            <a:solidFill>
              <a:srgbClr val="C0DCF0"/>
            </a:solidFill>
            <a:prstDash val="solid"/>
          </a:ln>
        </p:spPr>
      </p:sp>
      <p:sp>
        <p:nvSpPr>
          <p:cNvPr id="18" name="Text 16"/>
          <p:cNvSpPr/>
          <p:nvPr/>
        </p:nvSpPr>
        <p:spPr>
          <a:xfrm>
            <a:off x="457200" y="4069080"/>
            <a:ext cx="8229600" cy="594360"/>
          </a:xfrm>
          <a:prstGeom prst="rect">
            <a:avLst/>
          </a:prstGeom>
          <a:noFill/>
          <a:ln/>
        </p:spPr>
        <p:txBody>
          <a:bodyPr wrap="square" rtlCol="0" anchor="ctr"/>
          <a:lstStyle/>
          <a:p>
            <a:pPr marL="0" indent="0">
              <a:buNone/>
            </a:pPr>
            <a:r>
              <a:rPr lang="en-US" sz="1100" b="1" dirty="0">
                <a:solidFill>
                  <a:srgbClr val="2E86AB"/>
                </a:solidFill>
                <a:latin typeface="Calibri" pitchFamily="34" charset="0"/>
                <a:ea typeface="Calibri" pitchFamily="34" charset="-122"/>
                <a:cs typeface="Calibri" pitchFamily="34" charset="-120"/>
              </a:rPr>
              <a:t>Statistical Validation: </a:t>
            </a:r>
            <a:r>
              <a:rPr lang="en-US" sz="1100" dirty="0">
                <a:solidFill>
                  <a:srgbClr val="1A2E44"/>
                </a:solidFill>
                <a:latin typeface="Calibri" pitchFamily="34" charset="0"/>
                <a:ea typeface="Calibri" pitchFamily="34" charset="-122"/>
                <a:cs typeface="Calibri" pitchFamily="34" charset="-120"/>
              </a:rPr>
              <a:t>Chi-square tests confirm rate differences are real, not random (p=0.000 for all high-volume countries). </a:t>
            </a:r>
            <a:r>
              <a:rPr lang="en-US" sz="1100" dirty="0">
                <a:solidFill>
                  <a:srgbClr val="4A6080"/>
                </a:solidFill>
                <a:latin typeface="Calibri" pitchFamily="34" charset="0"/>
                <a:ea typeface="Calibri" pitchFamily="34" charset="-122"/>
                <a:cs typeface="Calibri" pitchFamily="34" charset="-120"/>
              </a:rPr>
              <a:t>Note: statistical significance does not prove causality — the data SUGGESTS structural issues, but root causes require further investigation.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orange and blue lines&#10;&#10;AI-generated content may be incorrect.">
            <a:extLst>
              <a:ext uri="{FF2B5EF4-FFF2-40B4-BE49-F238E27FC236}">
                <a16:creationId xmlns:a16="http://schemas.microsoft.com/office/drawing/2014/main" id="{18FF74B0-9FD5-ED0E-A43E-B01EE3DC96C3}"/>
              </a:ext>
            </a:extLst>
          </p:cNvPr>
          <p:cNvPicPr>
            <a:picLocks noChangeAspect="1"/>
          </p:cNvPicPr>
          <p:nvPr/>
        </p:nvPicPr>
        <p:blipFill>
          <a:blip r:embed="rId2"/>
          <a:stretch>
            <a:fillRect/>
          </a:stretch>
        </p:blipFill>
        <p:spPr>
          <a:xfrm>
            <a:off x="0" y="500018"/>
            <a:ext cx="9144000" cy="4143463"/>
          </a:xfrm>
          <a:prstGeom prst="rect">
            <a:avLst/>
          </a:prstGeom>
        </p:spPr>
      </p:pic>
    </p:spTree>
    <p:extLst>
      <p:ext uri="{BB962C8B-B14F-4D97-AF65-F5344CB8AC3E}">
        <p14:creationId xmlns:p14="http://schemas.microsoft.com/office/powerpoint/2010/main" val="60232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02920" y="182880"/>
            <a:ext cx="8229600" cy="548640"/>
          </a:xfrm>
          <a:prstGeom prst="rect">
            <a:avLst/>
          </a:prstGeom>
          <a:noFill/>
          <a:ln/>
        </p:spPr>
        <p:txBody>
          <a:bodyPr wrap="square" lIns="0" tIns="0" rIns="0" bIns="0" rtlCol="0" anchor="ctr"/>
          <a:lstStyle/>
          <a:p>
            <a:pPr marL="0" indent="0">
              <a:buNone/>
            </a:pPr>
            <a:r>
              <a:rPr lang="en-US" sz="2200" b="1" dirty="0">
                <a:solidFill>
                  <a:srgbClr val="1A2E44"/>
                </a:solidFill>
                <a:latin typeface="Calibri" pitchFamily="34" charset="0"/>
                <a:ea typeface="Calibri" pitchFamily="34" charset="-122"/>
                <a:cs typeface="Calibri" pitchFamily="34" charset="-120"/>
              </a:rPr>
              <a:t>Q2: Do Return Volumes Vary Seasonally Across Months or Quarters?</a:t>
            </a:r>
            <a:endParaRPr lang="en-US" sz="2200" dirty="0"/>
          </a:p>
        </p:txBody>
      </p:sp>
      <p:sp>
        <p:nvSpPr>
          <p:cNvPr id="3" name="Text 1"/>
          <p:cNvSpPr/>
          <p:nvPr/>
        </p:nvSpPr>
        <p:spPr>
          <a:xfrm>
            <a:off x="502920" y="731520"/>
            <a:ext cx="8229600" cy="274320"/>
          </a:xfrm>
          <a:prstGeom prst="rect">
            <a:avLst/>
          </a:prstGeom>
          <a:noFill/>
          <a:ln/>
        </p:spPr>
        <p:txBody>
          <a:bodyPr wrap="square" lIns="0" tIns="0" rIns="0" bIns="0" rtlCol="0" anchor="ctr"/>
          <a:lstStyle/>
          <a:p>
            <a:pPr marL="0" indent="0">
              <a:buNone/>
            </a:pPr>
            <a:r>
              <a:rPr lang="en-US" sz="1200" dirty="0">
                <a:solidFill>
                  <a:srgbClr val="4A6080"/>
                </a:solidFill>
                <a:latin typeface="Calibri" pitchFamily="34" charset="0"/>
                <a:ea typeface="Calibri" pitchFamily="34" charset="-122"/>
                <a:cs typeface="Calibri" pitchFamily="34" charset="-120"/>
              </a:rPr>
              <a:t>Answer: YES for volume — NO for behaviour (the critical distinction)</a:t>
            </a:r>
            <a:endParaRPr lang="en-US" sz="1200" dirty="0"/>
          </a:p>
        </p:txBody>
      </p:sp>
      <p:sp>
        <p:nvSpPr>
          <p:cNvPr id="4" name="Shape 2"/>
          <p:cNvSpPr/>
          <p:nvPr/>
        </p:nvSpPr>
        <p:spPr>
          <a:xfrm>
            <a:off x="502920" y="1051560"/>
            <a:ext cx="8138160" cy="0"/>
          </a:xfrm>
          <a:prstGeom prst="line">
            <a:avLst/>
          </a:prstGeom>
          <a:noFill/>
          <a:ln w="9525">
            <a:solidFill>
              <a:srgbClr val="D0DCE8"/>
            </a:solidFill>
            <a:prstDash val="solid"/>
          </a:ln>
        </p:spPr>
      </p:sp>
      <p:sp>
        <p:nvSpPr>
          <p:cNvPr id="5" name="Shape 3"/>
          <p:cNvSpPr/>
          <p:nvPr/>
        </p:nvSpPr>
        <p:spPr>
          <a:xfrm>
            <a:off x="320040" y="1188720"/>
            <a:ext cx="8458200" cy="822960"/>
          </a:xfrm>
          <a:prstGeom prst="rect">
            <a:avLst/>
          </a:prstGeom>
          <a:solidFill>
            <a:srgbClr val="0F1B2D"/>
          </a:solidFill>
          <a:ln w="12700">
            <a:solidFill>
              <a:srgbClr val="0F1B2D"/>
            </a:solidFill>
            <a:prstDash val="solid"/>
          </a:ln>
        </p:spPr>
      </p:sp>
      <p:sp>
        <p:nvSpPr>
          <p:cNvPr id="6" name="Text 4"/>
          <p:cNvSpPr/>
          <p:nvPr/>
        </p:nvSpPr>
        <p:spPr>
          <a:xfrm>
            <a:off x="457200" y="1261872"/>
            <a:ext cx="8229600" cy="347472"/>
          </a:xfrm>
          <a:prstGeom prst="rect">
            <a:avLst/>
          </a:prstGeom>
          <a:noFill/>
          <a:ln/>
        </p:spPr>
        <p:txBody>
          <a:bodyPr wrap="square" rtlCol="0" anchor="ctr"/>
          <a:lstStyle/>
          <a:p>
            <a:pPr marL="0" indent="0">
              <a:buNone/>
            </a:pPr>
            <a:r>
              <a:rPr lang="en-US" sz="1500" b="1" dirty="0">
                <a:solidFill>
                  <a:srgbClr val="F4A261"/>
                </a:solidFill>
                <a:latin typeface="Calibri" pitchFamily="34" charset="0"/>
                <a:ea typeface="Calibri" pitchFamily="34" charset="-122"/>
                <a:cs typeface="Calibri" pitchFamily="34" charset="-120"/>
              </a:rPr>
              <a:t>KEY FINDING: </a:t>
            </a:r>
            <a:r>
              <a:rPr lang="en-US" sz="1400" b="1" dirty="0">
                <a:solidFill>
                  <a:srgbClr val="FFFFFF"/>
                </a:solidFill>
                <a:latin typeface="Calibri" pitchFamily="34" charset="0"/>
                <a:ea typeface="Calibri" pitchFamily="34" charset="-122"/>
                <a:cs typeface="Calibri" pitchFamily="34" charset="-120"/>
              </a:rPr>
              <a:t>Q4 cancel RATE = 16.6%  vs  Q2/Q3 rate = 16.7%  — virtually identical.</a:t>
            </a:r>
            <a:endParaRPr lang="en-US" sz="1500" dirty="0"/>
          </a:p>
        </p:txBody>
      </p:sp>
      <p:sp>
        <p:nvSpPr>
          <p:cNvPr id="7" name="Text 5"/>
          <p:cNvSpPr/>
          <p:nvPr/>
        </p:nvSpPr>
        <p:spPr>
          <a:xfrm>
            <a:off x="457200" y="1581912"/>
            <a:ext cx="8229600" cy="347472"/>
          </a:xfrm>
          <a:prstGeom prst="rect">
            <a:avLst/>
          </a:prstGeom>
          <a:noFill/>
          <a:ln/>
        </p:spPr>
        <p:txBody>
          <a:bodyPr wrap="square" rtlCol="0" anchor="ctr"/>
          <a:lstStyle/>
          <a:p>
            <a:pPr marL="0" indent="0">
              <a:buNone/>
            </a:pPr>
            <a:r>
              <a:rPr lang="en-US" sz="1200" dirty="0">
                <a:solidFill>
                  <a:srgbClr val="AABBD0"/>
                </a:solidFill>
                <a:latin typeface="Calibri" pitchFamily="34" charset="0"/>
                <a:ea typeface="Calibri" pitchFamily="34" charset="-122"/>
                <a:cs typeface="Calibri" pitchFamily="34" charset="-120"/>
              </a:rPr>
              <a:t>Customers are NOT more likely to cancel in Q4. Losses spike because MORE orders are placed — an operations problem, not behaviour.</a:t>
            </a:r>
            <a:endParaRPr lang="en-US" sz="1200" dirty="0"/>
          </a:p>
        </p:txBody>
      </p:sp>
      <p:sp>
        <p:nvSpPr>
          <p:cNvPr id="8" name="Shape 6"/>
          <p:cNvSpPr/>
          <p:nvPr/>
        </p:nvSpPr>
        <p:spPr>
          <a:xfrm>
            <a:off x="320040" y="2194560"/>
            <a:ext cx="2651760" cy="1188720"/>
          </a:xfrm>
          <a:prstGeom prst="rect">
            <a:avLst/>
          </a:prstGeom>
          <a:solidFill>
            <a:srgbClr val="FFFFFF"/>
          </a:solidFill>
          <a:ln w="6350">
            <a:solidFill>
              <a:srgbClr val="D8E4F0"/>
            </a:solidFill>
            <a:prstDash val="solid"/>
          </a:ln>
          <a:effectLst>
            <a:outerShdw blurRad="101600" dist="25400" dir="8100000" algn="bl" rotWithShape="0">
              <a:srgbClr val="000000">
                <a:alpha val="12000"/>
              </a:srgbClr>
            </a:outerShdw>
          </a:effectLst>
        </p:spPr>
      </p:sp>
      <p:sp>
        <p:nvSpPr>
          <p:cNvPr id="9" name="Shape 7"/>
          <p:cNvSpPr/>
          <p:nvPr/>
        </p:nvSpPr>
        <p:spPr>
          <a:xfrm>
            <a:off x="320040" y="2194560"/>
            <a:ext cx="2651760" cy="64008"/>
          </a:xfrm>
          <a:prstGeom prst="rect">
            <a:avLst/>
          </a:prstGeom>
          <a:solidFill>
            <a:srgbClr val="E84855"/>
          </a:solidFill>
          <a:ln/>
        </p:spPr>
      </p:sp>
      <p:sp>
        <p:nvSpPr>
          <p:cNvPr id="10" name="Text 8"/>
          <p:cNvSpPr/>
          <p:nvPr/>
        </p:nvSpPr>
        <p:spPr>
          <a:xfrm>
            <a:off x="320040" y="2286000"/>
            <a:ext cx="2651760" cy="457200"/>
          </a:xfrm>
          <a:prstGeom prst="rect">
            <a:avLst/>
          </a:prstGeom>
          <a:noFill/>
          <a:ln/>
        </p:spPr>
        <p:txBody>
          <a:bodyPr wrap="square" rtlCol="0" anchor="ctr"/>
          <a:lstStyle/>
          <a:p>
            <a:pPr marL="0" indent="0" algn="ctr">
              <a:buNone/>
            </a:pPr>
            <a:r>
              <a:rPr lang="en-US" sz="2000" b="1" dirty="0">
                <a:solidFill>
                  <a:srgbClr val="E84855"/>
                </a:solidFill>
                <a:latin typeface="Calibri" pitchFamily="34" charset="0"/>
                <a:ea typeface="Calibri" pitchFamily="34" charset="-122"/>
                <a:cs typeface="Calibri" pitchFamily="34" charset="-120"/>
              </a:rPr>
              <a:t>£259,934</a:t>
            </a:r>
            <a:endParaRPr lang="en-US" sz="2000" dirty="0"/>
          </a:p>
        </p:txBody>
      </p:sp>
      <p:sp>
        <p:nvSpPr>
          <p:cNvPr id="11" name="Text 9"/>
          <p:cNvSpPr/>
          <p:nvPr/>
        </p:nvSpPr>
        <p:spPr>
          <a:xfrm>
            <a:off x="320040" y="2724912"/>
            <a:ext cx="2651760" cy="274320"/>
          </a:xfrm>
          <a:prstGeom prst="rect">
            <a:avLst/>
          </a:prstGeom>
          <a:noFill/>
          <a:ln/>
        </p:spPr>
        <p:txBody>
          <a:bodyPr wrap="square" rtlCol="0" anchor="ctr"/>
          <a:lstStyle/>
          <a:p>
            <a:pPr marL="0" indent="0" algn="ctr">
              <a:buNone/>
            </a:pPr>
            <a:r>
              <a:rPr lang="en-US" sz="1200" b="1" dirty="0">
                <a:solidFill>
                  <a:srgbClr val="1A2E44"/>
                </a:solidFill>
                <a:latin typeface="Calibri" pitchFamily="34" charset="0"/>
                <a:ea typeface="Calibri" pitchFamily="34" charset="-122"/>
                <a:cs typeface="Calibri" pitchFamily="34" charset="-120"/>
              </a:rPr>
              <a:t>Q4 2010 Loss</a:t>
            </a:r>
            <a:endParaRPr lang="en-US" sz="1200" dirty="0"/>
          </a:p>
        </p:txBody>
      </p:sp>
      <p:sp>
        <p:nvSpPr>
          <p:cNvPr id="12" name="Text 10"/>
          <p:cNvSpPr/>
          <p:nvPr/>
        </p:nvSpPr>
        <p:spPr>
          <a:xfrm>
            <a:off x="320040" y="2980944"/>
            <a:ext cx="2651760" cy="320040"/>
          </a:xfrm>
          <a:prstGeom prst="rect">
            <a:avLst/>
          </a:prstGeom>
          <a:noFill/>
          <a:ln/>
        </p:spPr>
        <p:txBody>
          <a:bodyPr wrap="square"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Worst quarter — holiday surge</a:t>
            </a:r>
            <a:endParaRPr lang="en-US" sz="1000" dirty="0"/>
          </a:p>
        </p:txBody>
      </p:sp>
      <p:sp>
        <p:nvSpPr>
          <p:cNvPr id="13" name="Shape 11"/>
          <p:cNvSpPr/>
          <p:nvPr/>
        </p:nvSpPr>
        <p:spPr>
          <a:xfrm>
            <a:off x="3200400" y="2194560"/>
            <a:ext cx="2651760" cy="1188720"/>
          </a:xfrm>
          <a:prstGeom prst="rect">
            <a:avLst/>
          </a:prstGeom>
          <a:solidFill>
            <a:srgbClr val="FFFFFF"/>
          </a:solidFill>
          <a:ln w="6350">
            <a:solidFill>
              <a:srgbClr val="D8E4F0"/>
            </a:solidFill>
            <a:prstDash val="solid"/>
          </a:ln>
          <a:effectLst>
            <a:outerShdw blurRad="101600" dist="25400" dir="8100000" algn="bl" rotWithShape="0">
              <a:srgbClr val="000000">
                <a:alpha val="12000"/>
              </a:srgbClr>
            </a:outerShdw>
          </a:effectLst>
        </p:spPr>
      </p:sp>
      <p:sp>
        <p:nvSpPr>
          <p:cNvPr id="14" name="Shape 12"/>
          <p:cNvSpPr/>
          <p:nvPr/>
        </p:nvSpPr>
        <p:spPr>
          <a:xfrm>
            <a:off x="3200400" y="2194560"/>
            <a:ext cx="2651760" cy="64008"/>
          </a:xfrm>
          <a:prstGeom prst="rect">
            <a:avLst/>
          </a:prstGeom>
          <a:solidFill>
            <a:srgbClr val="4CAF50"/>
          </a:solidFill>
          <a:ln/>
        </p:spPr>
      </p:sp>
      <p:sp>
        <p:nvSpPr>
          <p:cNvPr id="15" name="Text 13"/>
          <p:cNvSpPr/>
          <p:nvPr/>
        </p:nvSpPr>
        <p:spPr>
          <a:xfrm>
            <a:off x="3200400" y="2286000"/>
            <a:ext cx="2651760" cy="457200"/>
          </a:xfrm>
          <a:prstGeom prst="rect">
            <a:avLst/>
          </a:prstGeom>
          <a:noFill/>
          <a:ln/>
        </p:spPr>
        <p:txBody>
          <a:bodyPr wrap="square" rtlCol="0" anchor="ctr"/>
          <a:lstStyle/>
          <a:p>
            <a:pPr marL="0" indent="0" algn="ctr">
              <a:buNone/>
            </a:pPr>
            <a:r>
              <a:rPr lang="en-US" sz="2000" b="1" dirty="0">
                <a:solidFill>
                  <a:srgbClr val="4CAF50"/>
                </a:solidFill>
                <a:latin typeface="Calibri" pitchFamily="34" charset="0"/>
                <a:ea typeface="Calibri" pitchFamily="34" charset="-122"/>
                <a:cs typeface="Calibri" pitchFamily="34" charset="-120"/>
              </a:rPr>
              <a:t>£131,482</a:t>
            </a:r>
            <a:endParaRPr lang="en-US" sz="2000" dirty="0"/>
          </a:p>
        </p:txBody>
      </p:sp>
      <p:sp>
        <p:nvSpPr>
          <p:cNvPr id="16" name="Text 14"/>
          <p:cNvSpPr/>
          <p:nvPr/>
        </p:nvSpPr>
        <p:spPr>
          <a:xfrm>
            <a:off x="3200400" y="2724912"/>
            <a:ext cx="2651760" cy="274320"/>
          </a:xfrm>
          <a:prstGeom prst="rect">
            <a:avLst/>
          </a:prstGeom>
          <a:noFill/>
          <a:ln/>
        </p:spPr>
        <p:txBody>
          <a:bodyPr wrap="square" rtlCol="0" anchor="ctr"/>
          <a:lstStyle/>
          <a:p>
            <a:pPr marL="0" indent="0" algn="ctr">
              <a:buNone/>
            </a:pPr>
            <a:r>
              <a:rPr lang="en-US" sz="1200" b="1" dirty="0">
                <a:solidFill>
                  <a:srgbClr val="1A2E44"/>
                </a:solidFill>
                <a:latin typeface="Calibri" pitchFamily="34" charset="0"/>
                <a:ea typeface="Calibri" pitchFamily="34" charset="-122"/>
                <a:cs typeface="Calibri" pitchFamily="34" charset="-120"/>
              </a:rPr>
              <a:t>Q4 2011 Loss</a:t>
            </a:r>
            <a:endParaRPr lang="en-US" sz="1200" dirty="0"/>
          </a:p>
        </p:txBody>
      </p:sp>
      <p:sp>
        <p:nvSpPr>
          <p:cNvPr id="17" name="Text 15"/>
          <p:cNvSpPr/>
          <p:nvPr/>
        </p:nvSpPr>
        <p:spPr>
          <a:xfrm>
            <a:off x="3200400" y="2980944"/>
            <a:ext cx="2651760" cy="320040"/>
          </a:xfrm>
          <a:prstGeom prst="rect">
            <a:avLst/>
          </a:prstGeom>
          <a:noFill/>
          <a:ln/>
        </p:spPr>
        <p:txBody>
          <a:bodyPr wrap="square"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−49.4% vs Q4 2010 ✓ improving</a:t>
            </a:r>
            <a:endParaRPr lang="en-US" sz="1000" dirty="0"/>
          </a:p>
        </p:txBody>
      </p:sp>
      <p:sp>
        <p:nvSpPr>
          <p:cNvPr id="18" name="Shape 16"/>
          <p:cNvSpPr/>
          <p:nvPr/>
        </p:nvSpPr>
        <p:spPr>
          <a:xfrm>
            <a:off x="6080760" y="2194560"/>
            <a:ext cx="2651760" cy="1188720"/>
          </a:xfrm>
          <a:prstGeom prst="rect">
            <a:avLst/>
          </a:prstGeom>
          <a:solidFill>
            <a:srgbClr val="FFFFFF"/>
          </a:solidFill>
          <a:ln w="6350">
            <a:solidFill>
              <a:srgbClr val="D8E4F0"/>
            </a:solidFill>
            <a:prstDash val="solid"/>
          </a:ln>
          <a:effectLst>
            <a:outerShdw blurRad="101600" dist="25400" dir="8100000" algn="bl" rotWithShape="0">
              <a:srgbClr val="000000">
                <a:alpha val="12000"/>
              </a:srgbClr>
            </a:outerShdw>
          </a:effectLst>
        </p:spPr>
      </p:sp>
      <p:sp>
        <p:nvSpPr>
          <p:cNvPr id="19" name="Shape 17"/>
          <p:cNvSpPr/>
          <p:nvPr/>
        </p:nvSpPr>
        <p:spPr>
          <a:xfrm>
            <a:off x="6080760" y="2194560"/>
            <a:ext cx="2651760" cy="64008"/>
          </a:xfrm>
          <a:prstGeom prst="rect">
            <a:avLst/>
          </a:prstGeom>
          <a:solidFill>
            <a:srgbClr val="2E86AB"/>
          </a:solidFill>
          <a:ln/>
        </p:spPr>
      </p:sp>
      <p:sp>
        <p:nvSpPr>
          <p:cNvPr id="20" name="Text 18"/>
          <p:cNvSpPr/>
          <p:nvPr/>
        </p:nvSpPr>
        <p:spPr>
          <a:xfrm>
            <a:off x="6080760" y="2286000"/>
            <a:ext cx="2651760" cy="457200"/>
          </a:xfrm>
          <a:prstGeom prst="rect">
            <a:avLst/>
          </a:prstGeom>
          <a:noFill/>
          <a:ln/>
        </p:spPr>
        <p:txBody>
          <a:bodyPr wrap="square" rtlCol="0" anchor="ctr"/>
          <a:lstStyle/>
          <a:p>
            <a:pPr marL="0" indent="0" algn="ctr">
              <a:buNone/>
            </a:pPr>
            <a:r>
              <a:rPr lang="en-US" sz="2000" b="1" dirty="0">
                <a:solidFill>
                  <a:srgbClr val="2E86AB"/>
                </a:solidFill>
                <a:latin typeface="Calibri" pitchFamily="34" charset="0"/>
                <a:ea typeface="Calibri" pitchFamily="34" charset="-122"/>
                <a:cs typeface="Calibri" pitchFamily="34" charset="-120"/>
              </a:rPr>
              <a:t>−0.167%/month</a:t>
            </a:r>
            <a:endParaRPr lang="en-US" sz="2000" dirty="0"/>
          </a:p>
        </p:txBody>
      </p:sp>
      <p:sp>
        <p:nvSpPr>
          <p:cNvPr id="21" name="Text 19"/>
          <p:cNvSpPr/>
          <p:nvPr/>
        </p:nvSpPr>
        <p:spPr>
          <a:xfrm>
            <a:off x="6080760" y="2724912"/>
            <a:ext cx="2651760" cy="274320"/>
          </a:xfrm>
          <a:prstGeom prst="rect">
            <a:avLst/>
          </a:prstGeom>
          <a:noFill/>
          <a:ln/>
        </p:spPr>
        <p:txBody>
          <a:bodyPr wrap="square" rtlCol="0" anchor="ctr"/>
          <a:lstStyle/>
          <a:p>
            <a:pPr marL="0" indent="0" algn="ctr">
              <a:buNone/>
            </a:pPr>
            <a:r>
              <a:rPr lang="en-US" sz="1200" b="1" dirty="0">
                <a:solidFill>
                  <a:srgbClr val="1A2E44"/>
                </a:solidFill>
                <a:latin typeface="Calibri" pitchFamily="34" charset="0"/>
                <a:ea typeface="Calibri" pitchFamily="34" charset="-122"/>
                <a:cs typeface="Calibri" pitchFamily="34" charset="-120"/>
              </a:rPr>
              <a:t>Rate Trend</a:t>
            </a:r>
            <a:endParaRPr lang="en-US" sz="1200" dirty="0"/>
          </a:p>
        </p:txBody>
      </p:sp>
      <p:sp>
        <p:nvSpPr>
          <p:cNvPr id="22" name="Text 20"/>
          <p:cNvSpPr/>
          <p:nvPr/>
        </p:nvSpPr>
        <p:spPr>
          <a:xfrm>
            <a:off x="6080760" y="2980944"/>
            <a:ext cx="2651760" cy="320040"/>
          </a:xfrm>
          <a:prstGeom prst="rect">
            <a:avLst/>
          </a:prstGeom>
          <a:noFill/>
          <a:ln/>
        </p:spPr>
        <p:txBody>
          <a:bodyPr wrap="square" rtlCol="0" anchor="ctr"/>
          <a:lstStyle/>
          <a:p>
            <a:pPr marL="0" indent="0" algn="ctr">
              <a:buNone/>
            </a:pPr>
            <a:r>
              <a:rPr lang="en-US" sz="1000" dirty="0">
                <a:solidFill>
                  <a:srgbClr val="4A6080"/>
                </a:solidFill>
                <a:latin typeface="Calibri" pitchFamily="34" charset="0"/>
                <a:ea typeface="Calibri" pitchFamily="34" charset="-122"/>
                <a:cs typeface="Calibri" pitchFamily="34" charset="-120"/>
              </a:rPr>
              <a:t>2010: 17.6% → 2011: 15.7%</a:t>
            </a:r>
            <a:endParaRPr lang="en-US" sz="1000" dirty="0"/>
          </a:p>
        </p:txBody>
      </p:sp>
      <p:sp>
        <p:nvSpPr>
          <p:cNvPr id="23" name="Text 21"/>
          <p:cNvSpPr/>
          <p:nvPr/>
        </p:nvSpPr>
        <p:spPr>
          <a:xfrm>
            <a:off x="320040" y="3520440"/>
            <a:ext cx="8458200" cy="320040"/>
          </a:xfrm>
          <a:prstGeom prst="rect">
            <a:avLst/>
          </a:prstGeom>
          <a:noFill/>
          <a:ln/>
        </p:spPr>
        <p:txBody>
          <a:bodyPr wrap="square" rtlCol="0" anchor="ctr"/>
          <a:lstStyle/>
          <a:p>
            <a:pPr marL="0" indent="0" algn="ctr">
              <a:buNone/>
            </a:pPr>
            <a:r>
              <a:rPr lang="en-US" sz="1200" b="1" dirty="0">
                <a:solidFill>
                  <a:srgbClr val="1A2E44"/>
                </a:solidFill>
                <a:latin typeface="Calibri" pitchFamily="34" charset="0"/>
                <a:ea typeface="Calibri" pitchFamily="34" charset="-122"/>
                <a:cs typeface="Calibri" pitchFamily="34" charset="-120"/>
              </a:rPr>
              <a:t>Spike Months Identified: Sep 2010 (94,450 units) | Dec 2010 (£134,806) | Jan 2011 (£131,185)</a:t>
            </a:r>
            <a:endParaRPr lang="en-US" sz="1200" dirty="0"/>
          </a:p>
        </p:txBody>
      </p:sp>
      <p:sp>
        <p:nvSpPr>
          <p:cNvPr id="24" name="Text 22"/>
          <p:cNvSpPr/>
          <p:nvPr/>
        </p:nvSpPr>
        <p:spPr>
          <a:xfrm>
            <a:off x="320040" y="3822192"/>
            <a:ext cx="8458200" cy="274320"/>
          </a:xfrm>
          <a:prstGeom prst="rect">
            <a:avLst/>
          </a:prstGeom>
          <a:noFill/>
          <a:ln/>
        </p:spPr>
        <p:txBody>
          <a:bodyPr wrap="square" rtlCol="0" anchor="ctr"/>
          <a:lstStyle/>
          <a:p>
            <a:pPr marL="0" indent="0" algn="ctr">
              <a:buNone/>
            </a:pPr>
            <a:r>
              <a:rPr lang="en-US" sz="1100" dirty="0">
                <a:solidFill>
                  <a:srgbClr val="4A6080"/>
                </a:solidFill>
                <a:latin typeface="Calibri" pitchFamily="34" charset="0"/>
                <a:ea typeface="Calibri" pitchFamily="34" charset="-122"/>
                <a:cs typeface="Calibri" pitchFamily="34" charset="-120"/>
              </a:rPr>
              <a:t>In all three spike months — cancel RATE stayed within normal range (15–19%). Loss spikes = volume driven.</a:t>
            </a:r>
            <a:endParaRPr lang="en-US" sz="1100" dirty="0"/>
          </a:p>
        </p:txBody>
      </p:sp>
      <p:sp>
        <p:nvSpPr>
          <p:cNvPr id="25" name="Shape 23"/>
          <p:cNvSpPr/>
          <p:nvPr/>
        </p:nvSpPr>
        <p:spPr>
          <a:xfrm>
            <a:off x="320040" y="4206240"/>
            <a:ext cx="8458200" cy="594360"/>
          </a:xfrm>
          <a:prstGeom prst="rect">
            <a:avLst/>
          </a:prstGeom>
          <a:solidFill>
            <a:srgbClr val="EAF6FF"/>
          </a:solidFill>
          <a:ln w="6350">
            <a:solidFill>
              <a:srgbClr val="B0D8F0"/>
            </a:solidFill>
            <a:prstDash val="solid"/>
          </a:ln>
        </p:spPr>
      </p:sp>
      <p:sp>
        <p:nvSpPr>
          <p:cNvPr id="26" name="Text 24"/>
          <p:cNvSpPr/>
          <p:nvPr/>
        </p:nvSpPr>
        <p:spPr>
          <a:xfrm>
            <a:off x="457200" y="4251960"/>
            <a:ext cx="8229600" cy="502920"/>
          </a:xfrm>
          <a:prstGeom prst="rect">
            <a:avLst/>
          </a:prstGeom>
          <a:noFill/>
          <a:ln/>
        </p:spPr>
        <p:txBody>
          <a:bodyPr wrap="square" rtlCol="0" anchor="ctr"/>
          <a:lstStyle/>
          <a:p>
            <a:pPr marL="0" indent="0">
              <a:buNone/>
            </a:pPr>
            <a:r>
              <a:rPr lang="en-US" sz="1200" b="1" dirty="0">
                <a:solidFill>
                  <a:srgbClr val="2E86AB"/>
                </a:solidFill>
                <a:latin typeface="Calibri" pitchFamily="34" charset="0"/>
                <a:ea typeface="Calibri" pitchFamily="34" charset="-122"/>
                <a:cs typeface="Calibri" pitchFamily="34" charset="-120"/>
              </a:rPr>
              <a:t>UK Rate Stability: </a:t>
            </a:r>
            <a:r>
              <a:rPr lang="en-US" sz="1200" dirty="0">
                <a:solidFill>
                  <a:srgbClr val="1A2E44"/>
                </a:solidFill>
                <a:latin typeface="Calibri" pitchFamily="34" charset="0"/>
                <a:ea typeface="Calibri" pitchFamily="34" charset="-122"/>
                <a:cs typeface="Calibri" pitchFamily="34" charset="-120"/>
              </a:rPr>
              <a:t>2010 mean 17.2% (range 15.2–21.1%)  |  2011 mean 15.7% (range 12.6–18.8%)</a:t>
            </a:r>
            <a:r>
              <a:rPr lang="en-US" sz="1200" dirty="0">
                <a:solidFill>
                  <a:srgbClr val="4A6080"/>
                </a:solidFill>
                <a:latin typeface="Calibri" pitchFamily="34" charset="0"/>
                <a:ea typeface="Calibri" pitchFamily="34" charset="-122"/>
                <a:cs typeface="Calibri" pitchFamily="34" charset="-120"/>
              </a:rPr>
              <a:t>  →  Cancellations are a predictable operational cost, not a volatile crisis.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number of red and blue bars&#10;&#10;AI-generated content may be incorrect.">
            <a:extLst>
              <a:ext uri="{FF2B5EF4-FFF2-40B4-BE49-F238E27FC236}">
                <a16:creationId xmlns:a16="http://schemas.microsoft.com/office/drawing/2014/main" id="{7CAD393E-8557-B034-A20A-D48939E7DEDC}"/>
              </a:ext>
            </a:extLst>
          </p:cNvPr>
          <p:cNvPicPr>
            <a:picLocks noChangeAspect="1"/>
          </p:cNvPicPr>
          <p:nvPr/>
        </p:nvPicPr>
        <p:blipFill>
          <a:blip r:embed="rId2"/>
          <a:stretch>
            <a:fillRect/>
          </a:stretch>
        </p:blipFill>
        <p:spPr>
          <a:xfrm>
            <a:off x="1270747" y="180058"/>
            <a:ext cx="6602505" cy="2465696"/>
          </a:xfrm>
          <a:prstGeom prst="rect">
            <a:avLst/>
          </a:prstGeom>
        </p:spPr>
      </p:pic>
      <p:pic>
        <p:nvPicPr>
          <p:cNvPr id="4" name="Imagen 3">
            <a:extLst>
              <a:ext uri="{FF2B5EF4-FFF2-40B4-BE49-F238E27FC236}">
                <a16:creationId xmlns:a16="http://schemas.microsoft.com/office/drawing/2014/main" id="{B0BE2BE9-B21F-6EF8-B958-4996BD828711}"/>
              </a:ext>
            </a:extLst>
          </p:cNvPr>
          <p:cNvPicPr>
            <a:picLocks noChangeAspect="1"/>
          </p:cNvPicPr>
          <p:nvPr/>
        </p:nvPicPr>
        <p:blipFill>
          <a:blip r:embed="rId3"/>
          <a:stretch>
            <a:fillRect/>
          </a:stretch>
        </p:blipFill>
        <p:spPr>
          <a:xfrm>
            <a:off x="1270747" y="2645754"/>
            <a:ext cx="6602505" cy="2382797"/>
          </a:xfrm>
          <a:prstGeom prst="rect">
            <a:avLst/>
          </a:prstGeom>
        </p:spPr>
      </p:pic>
    </p:spTree>
    <p:extLst>
      <p:ext uri="{BB962C8B-B14F-4D97-AF65-F5344CB8AC3E}">
        <p14:creationId xmlns:p14="http://schemas.microsoft.com/office/powerpoint/2010/main" val="249687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A graph of a number of different colored bars&#10;&#10;AI-generated content may be incorrect.">
            <a:extLst>
              <a:ext uri="{FF2B5EF4-FFF2-40B4-BE49-F238E27FC236}">
                <a16:creationId xmlns:a16="http://schemas.microsoft.com/office/drawing/2014/main" id="{10E7C13F-5E96-493F-D90D-A4C18597B97A}"/>
              </a:ext>
            </a:extLst>
          </p:cNvPr>
          <p:cNvPicPr>
            <a:picLocks noChangeAspect="1"/>
          </p:cNvPicPr>
          <p:nvPr/>
        </p:nvPicPr>
        <p:blipFill>
          <a:blip r:embed="rId2"/>
          <a:stretch>
            <a:fillRect/>
          </a:stretch>
        </p:blipFill>
        <p:spPr>
          <a:xfrm>
            <a:off x="265889" y="0"/>
            <a:ext cx="7425447" cy="2592645"/>
          </a:xfrm>
          <a:prstGeom prst="rect">
            <a:avLst/>
          </a:prstGeom>
        </p:spPr>
      </p:pic>
      <p:pic>
        <p:nvPicPr>
          <p:cNvPr id="3" name="Picture 2" descr="A graph with different colored bars&#10;&#10;AI-generated content may be incorrect.">
            <a:extLst>
              <a:ext uri="{FF2B5EF4-FFF2-40B4-BE49-F238E27FC236}">
                <a16:creationId xmlns:a16="http://schemas.microsoft.com/office/drawing/2014/main" id="{CB645C15-1F72-60F3-AA3B-774A3C155F83}"/>
              </a:ext>
            </a:extLst>
          </p:cNvPr>
          <p:cNvPicPr>
            <a:picLocks noChangeAspect="1"/>
          </p:cNvPicPr>
          <p:nvPr/>
        </p:nvPicPr>
        <p:blipFill>
          <a:blip r:embed="rId3"/>
          <a:stretch>
            <a:fillRect/>
          </a:stretch>
        </p:blipFill>
        <p:spPr>
          <a:xfrm>
            <a:off x="369650" y="2524822"/>
            <a:ext cx="7217923" cy="2553827"/>
          </a:xfrm>
          <a:prstGeom prst="rect">
            <a:avLst/>
          </a:prstGeom>
        </p:spPr>
      </p:pic>
    </p:spTree>
    <p:extLst>
      <p:ext uri="{BB962C8B-B14F-4D97-AF65-F5344CB8AC3E}">
        <p14:creationId xmlns:p14="http://schemas.microsoft.com/office/powerpoint/2010/main" val="296146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02920" y="182880"/>
            <a:ext cx="8229600" cy="548640"/>
          </a:xfrm>
          <a:prstGeom prst="rect">
            <a:avLst/>
          </a:prstGeom>
          <a:noFill/>
          <a:ln/>
        </p:spPr>
        <p:txBody>
          <a:bodyPr wrap="square" lIns="0" tIns="0" rIns="0" bIns="0" rtlCol="0" anchor="ctr"/>
          <a:lstStyle/>
          <a:p>
            <a:pPr marL="0" indent="0">
              <a:buNone/>
            </a:pPr>
            <a:r>
              <a:rPr lang="en-US" sz="2200" b="1" dirty="0">
                <a:solidFill>
                  <a:srgbClr val="1A2E44"/>
                </a:solidFill>
                <a:latin typeface="Calibri" pitchFamily="34" charset="0"/>
                <a:ea typeface="Calibri" pitchFamily="34" charset="-122"/>
                <a:cs typeface="Calibri" pitchFamily="34" charset="-120"/>
              </a:rPr>
              <a:t>Deeper Finding: What Drives the Spike Months?</a:t>
            </a:r>
            <a:endParaRPr lang="en-US" sz="2200" dirty="0"/>
          </a:p>
        </p:txBody>
      </p:sp>
      <p:sp>
        <p:nvSpPr>
          <p:cNvPr id="4" name="Shape 2"/>
          <p:cNvSpPr/>
          <p:nvPr/>
        </p:nvSpPr>
        <p:spPr>
          <a:xfrm>
            <a:off x="502920" y="1051560"/>
            <a:ext cx="8138160" cy="0"/>
          </a:xfrm>
          <a:prstGeom prst="line">
            <a:avLst/>
          </a:prstGeom>
          <a:noFill/>
          <a:ln w="9525">
            <a:solidFill>
              <a:srgbClr val="D0DCE8"/>
            </a:solidFill>
            <a:prstDash val="solid"/>
          </a:ln>
        </p:spPr>
      </p:sp>
      <p:sp>
        <p:nvSpPr>
          <p:cNvPr id="5" name="Shape 3"/>
          <p:cNvSpPr/>
          <p:nvPr/>
        </p:nvSpPr>
        <p:spPr>
          <a:xfrm>
            <a:off x="320040" y="1188720"/>
            <a:ext cx="8458200" cy="731520"/>
          </a:xfrm>
          <a:prstGeom prst="rect">
            <a:avLst/>
          </a:prstGeom>
          <a:solidFill>
            <a:srgbClr val="FFF4F4"/>
          </a:solidFill>
          <a:ln w="6350">
            <a:solidFill>
              <a:srgbClr val="F0C0C0"/>
            </a:solidFill>
            <a:prstDash val="solid"/>
          </a:ln>
        </p:spPr>
      </p:sp>
      <p:sp>
        <p:nvSpPr>
          <p:cNvPr id="6" name="Shape 4"/>
          <p:cNvSpPr/>
          <p:nvPr/>
        </p:nvSpPr>
        <p:spPr>
          <a:xfrm>
            <a:off x="320040" y="1188720"/>
            <a:ext cx="54864" cy="731520"/>
          </a:xfrm>
          <a:prstGeom prst="rect">
            <a:avLst/>
          </a:prstGeom>
          <a:solidFill>
            <a:srgbClr val="E84855"/>
          </a:solidFill>
          <a:ln/>
        </p:spPr>
      </p:sp>
      <p:sp>
        <p:nvSpPr>
          <p:cNvPr id="7" name="Text 5"/>
          <p:cNvSpPr/>
          <p:nvPr/>
        </p:nvSpPr>
        <p:spPr>
          <a:xfrm>
            <a:off x="457200" y="1234440"/>
            <a:ext cx="8229600" cy="594360"/>
          </a:xfrm>
          <a:prstGeom prst="rect">
            <a:avLst/>
          </a:prstGeom>
          <a:noFill/>
          <a:ln/>
        </p:spPr>
        <p:txBody>
          <a:bodyPr wrap="square" rtlCol="0" anchor="ctr"/>
          <a:lstStyle/>
          <a:p>
            <a:pPr marL="0" indent="0">
              <a:buNone/>
            </a:pPr>
            <a:r>
              <a:rPr lang="en-US" sz="1600" b="1" dirty="0">
                <a:solidFill>
                  <a:srgbClr val="E84855"/>
                </a:solidFill>
                <a:latin typeface="Calibri" pitchFamily="34" charset="0"/>
                <a:ea typeface="Calibri" pitchFamily="34" charset="-122"/>
                <a:cs typeface="Calibri" pitchFamily="34" charset="-120"/>
              </a:rPr>
              <a:t>MEDIUM CERAMIC TOP STORAGE JAR  </a:t>
            </a:r>
            <a:r>
              <a:rPr lang="en-US" sz="1300" dirty="0">
                <a:solidFill>
                  <a:srgbClr val="1A2E44"/>
                </a:solidFill>
                <a:latin typeface="Calibri" pitchFamily="34" charset="0"/>
                <a:ea typeface="Calibri" pitchFamily="34" charset="-122"/>
                <a:cs typeface="Calibri" pitchFamily="34" charset="-120"/>
              </a:rPr>
              <a:t>74,215 units cancelled  |  £77,184 loss  |  spike months: Sep–Dec 2010, Jan 2011</a:t>
            </a:r>
            <a:endParaRPr lang="en-US" sz="1600" dirty="0"/>
          </a:p>
        </p:txBody>
      </p:sp>
      <p:sp>
        <p:nvSpPr>
          <p:cNvPr id="8" name="Text 6"/>
          <p:cNvSpPr/>
          <p:nvPr/>
        </p:nvSpPr>
        <p:spPr>
          <a:xfrm>
            <a:off x="320040" y="2057400"/>
            <a:ext cx="4572000" cy="320040"/>
          </a:xfrm>
          <a:prstGeom prst="rect">
            <a:avLst/>
          </a:prstGeom>
          <a:noFill/>
          <a:ln/>
        </p:spPr>
        <p:txBody>
          <a:bodyPr wrap="square" lIns="0" tIns="0" rIns="0" bIns="0" rtlCol="0" anchor="ctr"/>
          <a:lstStyle/>
          <a:p>
            <a:pPr marL="0" indent="0">
              <a:buNone/>
            </a:pPr>
            <a:r>
              <a:rPr lang="en-US" sz="1400" b="1" dirty="0">
                <a:solidFill>
                  <a:srgbClr val="1A2E44"/>
                </a:solidFill>
                <a:latin typeface="Calibri" pitchFamily="34" charset="0"/>
                <a:ea typeface="Calibri" pitchFamily="34" charset="-122"/>
                <a:cs typeface="Calibri" pitchFamily="34" charset="-120"/>
              </a:rPr>
              <a:t>What the pattern suggests:</a:t>
            </a:r>
            <a:endParaRPr lang="en-US" sz="1400" dirty="0"/>
          </a:p>
        </p:txBody>
      </p:sp>
      <p:sp>
        <p:nvSpPr>
          <p:cNvPr id="9" name="Text 7"/>
          <p:cNvSpPr/>
          <p:nvPr/>
        </p:nvSpPr>
        <p:spPr>
          <a:xfrm>
            <a:off x="320040" y="2423160"/>
            <a:ext cx="4572000" cy="1371600"/>
          </a:xfrm>
          <a:prstGeom prst="rect">
            <a:avLst/>
          </a:prstGeom>
          <a:noFill/>
          <a:ln/>
        </p:spPr>
        <p:txBody>
          <a:bodyPr wrap="square" rtlCol="0" anchor="ctr"/>
          <a:lstStyle/>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74k+ units of ONE product cancelled is not individual customer returns</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Pattern is consistent with a bulk B2B order that was placed then cancelled</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Spike months are NOT a seasonal customer behaviour shift</a:t>
            </a:r>
            <a:endParaRPr lang="en-US" sz="1200" dirty="0"/>
          </a:p>
          <a:p>
            <a:pPr marL="342900" indent="-342900">
              <a:buSzPct val="100000"/>
              <a:buChar char="•"/>
            </a:pPr>
            <a:r>
              <a:rPr lang="en-US" sz="1200" dirty="0">
                <a:solidFill>
                  <a:srgbClr val="1A2E44"/>
                </a:solidFill>
                <a:latin typeface="Calibri" pitchFamily="34" charset="0"/>
                <a:ea typeface="Calibri" pitchFamily="34" charset="-122"/>
                <a:cs typeface="Calibri" pitchFamily="34" charset="-120"/>
              </a:rPr>
              <a:t>Rate stays at 15-19% in spike months — volume, not behaviour</a:t>
            </a:r>
            <a:endParaRPr lang="en-US" sz="1200" dirty="0"/>
          </a:p>
        </p:txBody>
      </p:sp>
      <p:sp>
        <p:nvSpPr>
          <p:cNvPr id="10" name="Shape 8"/>
          <p:cNvSpPr/>
          <p:nvPr/>
        </p:nvSpPr>
        <p:spPr>
          <a:xfrm>
            <a:off x="5120640" y="2011680"/>
            <a:ext cx="3611880" cy="1828800"/>
          </a:xfrm>
          <a:prstGeom prst="rect">
            <a:avLst/>
          </a:prstGeom>
          <a:solidFill>
            <a:srgbClr val="FFF8F0"/>
          </a:solidFill>
          <a:ln w="6350">
            <a:solidFill>
              <a:srgbClr val="F0D8B0"/>
            </a:solidFill>
            <a:prstDash val="solid"/>
          </a:ln>
        </p:spPr>
      </p:sp>
      <p:sp>
        <p:nvSpPr>
          <p:cNvPr id="11" name="Shape 9"/>
          <p:cNvSpPr/>
          <p:nvPr/>
        </p:nvSpPr>
        <p:spPr>
          <a:xfrm>
            <a:off x="5120640" y="2011680"/>
            <a:ext cx="54864" cy="1828800"/>
          </a:xfrm>
          <a:prstGeom prst="rect">
            <a:avLst/>
          </a:prstGeom>
          <a:solidFill>
            <a:srgbClr val="F4A261"/>
          </a:solidFill>
          <a:ln/>
        </p:spPr>
      </p:sp>
      <p:sp>
        <p:nvSpPr>
          <p:cNvPr id="12" name="Text 10"/>
          <p:cNvSpPr/>
          <p:nvPr/>
        </p:nvSpPr>
        <p:spPr>
          <a:xfrm>
            <a:off x="5257800" y="2057400"/>
            <a:ext cx="3383280" cy="320040"/>
          </a:xfrm>
          <a:prstGeom prst="rect">
            <a:avLst/>
          </a:prstGeom>
          <a:noFill/>
          <a:ln/>
        </p:spPr>
        <p:txBody>
          <a:bodyPr wrap="square" lIns="0" tIns="0" rIns="0" bIns="0"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Important Caveat</a:t>
            </a:r>
            <a:endParaRPr lang="en-US" sz="1300" dirty="0"/>
          </a:p>
        </p:txBody>
      </p:sp>
      <p:sp>
        <p:nvSpPr>
          <p:cNvPr id="13" name="Text 11"/>
          <p:cNvSpPr/>
          <p:nvPr/>
        </p:nvSpPr>
        <p:spPr>
          <a:xfrm>
            <a:off x="5257800" y="2395728"/>
            <a:ext cx="3383280" cy="1371600"/>
          </a:xfrm>
          <a:prstGeom prst="rect">
            <a:avLst/>
          </a:prstGeom>
          <a:noFill/>
          <a:ln/>
        </p:spPr>
        <p:txBody>
          <a:bodyPr wrap="square" rtlCol="0" anchor="ctr"/>
          <a:lstStyle/>
          <a:p>
            <a:pPr marL="0" indent="0">
              <a:buNone/>
            </a:pPr>
            <a:r>
              <a:rPr lang="en-US" sz="1100" dirty="0">
                <a:solidFill>
                  <a:srgbClr val="1A2E44"/>
                </a:solidFill>
                <a:latin typeface="Calibri" pitchFamily="34" charset="0"/>
                <a:ea typeface="Calibri" pitchFamily="34" charset="-122"/>
                <a:cs typeface="Calibri" pitchFamily="34" charset="-120"/>
              </a:rPr>
              <a:t>This is consistent with a bulk order — but we cannot confirm from geographic data alone.</a:t>
            </a:r>
            <a:endParaRPr lang="en-US" sz="1100" dirty="0"/>
          </a:p>
          <a:p>
            <a:pPr marL="0" indent="0">
              <a:buNone/>
            </a:pPr>
            <a:endParaRPr lang="en-US" sz="1100" dirty="0"/>
          </a:p>
          <a:p>
            <a:pPr marL="0" indent="0">
              <a:buNone/>
            </a:pPr>
            <a:r>
              <a:rPr lang="en-US" sz="1100" dirty="0">
                <a:solidFill>
                  <a:srgbClr val="1A2E44"/>
                </a:solidFill>
                <a:latin typeface="Calibri" pitchFamily="34" charset="0"/>
                <a:ea typeface="Calibri" pitchFamily="34" charset="-122"/>
                <a:cs typeface="Calibri" pitchFamily="34" charset="-120"/>
              </a:rPr>
              <a:t>Confirmation requires:</a:t>
            </a:r>
            <a:endParaRPr lang="en-US" sz="1100" dirty="0"/>
          </a:p>
          <a:p>
            <a:pPr marL="0" indent="0">
              <a:buNone/>
            </a:pPr>
            <a:r>
              <a:rPr lang="en-US" sz="1100" dirty="0">
                <a:solidFill>
                  <a:srgbClr val="1A2E44"/>
                </a:solidFill>
                <a:latin typeface="Calibri" pitchFamily="34" charset="0"/>
                <a:ea typeface="Calibri" pitchFamily="34" charset="-122"/>
                <a:cs typeface="Calibri" pitchFamily="34" charset="-120"/>
              </a:rPr>
              <a:t>• Customer IDs (Renato's section)</a:t>
            </a:r>
            <a:endParaRPr lang="en-US" sz="1100" dirty="0"/>
          </a:p>
          <a:p>
            <a:pPr marL="0" indent="0">
              <a:buNone/>
            </a:pPr>
            <a:r>
              <a:rPr lang="en-US" sz="1100" dirty="0">
                <a:solidFill>
                  <a:srgbClr val="1A2E44"/>
                </a:solidFill>
                <a:latin typeface="Calibri" pitchFamily="34" charset="0"/>
                <a:ea typeface="Calibri" pitchFamily="34" charset="-122"/>
                <a:cs typeface="Calibri" pitchFamily="34" charset="-120"/>
              </a:rPr>
              <a:t>• SKU history outside spike months (Okah's section)</a:t>
            </a:r>
            <a:endParaRPr lang="en-US" sz="1100" dirty="0"/>
          </a:p>
        </p:txBody>
      </p:sp>
      <p:sp>
        <p:nvSpPr>
          <p:cNvPr id="14" name="Shape 12"/>
          <p:cNvSpPr/>
          <p:nvPr/>
        </p:nvSpPr>
        <p:spPr>
          <a:xfrm>
            <a:off x="320040" y="3977640"/>
            <a:ext cx="8458200" cy="777240"/>
          </a:xfrm>
          <a:prstGeom prst="rect">
            <a:avLst/>
          </a:prstGeom>
          <a:solidFill>
            <a:srgbClr val="EAF6FF"/>
          </a:solidFill>
          <a:ln w="6350">
            <a:solidFill>
              <a:srgbClr val="B0D8F0"/>
            </a:solidFill>
            <a:prstDash val="solid"/>
          </a:ln>
        </p:spPr>
      </p:sp>
      <p:sp>
        <p:nvSpPr>
          <p:cNvPr id="15" name="Text 13"/>
          <p:cNvSpPr/>
          <p:nvPr/>
        </p:nvSpPr>
        <p:spPr>
          <a:xfrm>
            <a:off x="457200" y="4005072"/>
            <a:ext cx="2286000" cy="320040"/>
          </a:xfrm>
          <a:prstGeom prst="rect">
            <a:avLst/>
          </a:prstGeom>
          <a:noFill/>
          <a:ln/>
        </p:spPr>
        <p:txBody>
          <a:bodyPr wrap="square" lIns="0" tIns="0" rIns="0" bIns="0" rtlCol="0" anchor="ctr"/>
          <a:lstStyle/>
          <a:p>
            <a:pPr marL="0" indent="0">
              <a:buNone/>
            </a:pPr>
            <a:r>
              <a:rPr lang="en-US" sz="1300" b="1" dirty="0">
                <a:solidFill>
                  <a:srgbClr val="2E86AB"/>
                </a:solidFill>
                <a:latin typeface="Calibri" pitchFamily="34" charset="0"/>
                <a:ea typeface="Calibri" pitchFamily="34" charset="-122"/>
                <a:cs typeface="Calibri" pitchFamily="34" charset="-120"/>
              </a:rPr>
              <a:t>Next Explorations →</a:t>
            </a:r>
            <a:endParaRPr lang="en-US" sz="1300" dirty="0"/>
          </a:p>
        </p:txBody>
      </p:sp>
      <p:sp>
        <p:nvSpPr>
          <p:cNvPr id="16" name="Text 14"/>
          <p:cNvSpPr/>
          <p:nvPr/>
        </p:nvSpPr>
        <p:spPr>
          <a:xfrm>
            <a:off x="457200" y="4315968"/>
            <a:ext cx="8229600" cy="365760"/>
          </a:xfrm>
          <a:prstGeom prst="rect">
            <a:avLst/>
          </a:prstGeom>
          <a:noFill/>
          <a:ln/>
        </p:spPr>
        <p:txBody>
          <a:bodyPr wrap="square" rtlCol="0" anchor="ctr"/>
          <a:lstStyle/>
          <a:p>
            <a:pPr marL="0" indent="0">
              <a:buNone/>
            </a:pPr>
            <a:r>
              <a:rPr lang="en-US" sz="1200" b="1" dirty="0">
                <a:solidFill>
                  <a:srgbClr val="2E86AB"/>
                </a:solidFill>
                <a:latin typeface="Calibri" pitchFamily="34" charset="0"/>
                <a:ea typeface="Calibri" pitchFamily="34" charset="-122"/>
                <a:cs typeface="Calibri" pitchFamily="34" charset="-120"/>
              </a:rPr>
              <a:t>Okah: </a:t>
            </a:r>
            <a:r>
              <a:rPr lang="en-US" sz="1200" dirty="0">
                <a:solidFill>
                  <a:srgbClr val="1A2E44"/>
                </a:solidFill>
                <a:latin typeface="Calibri" pitchFamily="34" charset="0"/>
                <a:ea typeface="Calibri" pitchFamily="34" charset="-122"/>
                <a:cs typeface="Calibri" pitchFamily="34" charset="-120"/>
              </a:rPr>
              <a:t>Is this SKU problematic year-round or only in spike months?   </a:t>
            </a:r>
            <a:r>
              <a:rPr lang="en-US" sz="1200" b="1" dirty="0">
                <a:solidFill>
                  <a:srgbClr val="2E86AB"/>
                </a:solidFill>
                <a:latin typeface="Calibri" pitchFamily="34" charset="0"/>
                <a:ea typeface="Calibri" pitchFamily="34" charset="-122"/>
                <a:cs typeface="Calibri" pitchFamily="34" charset="-120"/>
              </a:rPr>
              <a:t>Renato: </a:t>
            </a:r>
            <a:r>
              <a:rPr lang="en-US" sz="1200" dirty="0">
                <a:solidFill>
                  <a:srgbClr val="1A2E44"/>
                </a:solidFill>
                <a:latin typeface="Calibri" pitchFamily="34" charset="0"/>
                <a:ea typeface="Calibri" pitchFamily="34" charset="-122"/>
                <a:cs typeface="Calibri" pitchFamily="34" charset="-120"/>
              </a:rPr>
              <a:t>How many Customer IDs are behind these cancellations?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report&#10;&#10;AI-generated content may be incorrect.">
            <a:extLst>
              <a:ext uri="{FF2B5EF4-FFF2-40B4-BE49-F238E27FC236}">
                <a16:creationId xmlns:a16="http://schemas.microsoft.com/office/drawing/2014/main" id="{C47F7F79-A89C-9541-EF08-32BEF9682FF0}"/>
              </a:ext>
            </a:extLst>
          </p:cNvPr>
          <p:cNvPicPr>
            <a:picLocks noChangeAspect="1"/>
          </p:cNvPicPr>
          <p:nvPr/>
        </p:nvPicPr>
        <p:blipFill>
          <a:blip r:embed="rId2"/>
          <a:stretch>
            <a:fillRect/>
          </a:stretch>
        </p:blipFill>
        <p:spPr>
          <a:xfrm>
            <a:off x="0" y="675489"/>
            <a:ext cx="9144000" cy="3792521"/>
          </a:xfrm>
          <a:prstGeom prst="rect">
            <a:avLst/>
          </a:prstGeom>
        </p:spPr>
      </p:pic>
    </p:spTree>
    <p:extLst>
      <p:ext uri="{BB962C8B-B14F-4D97-AF65-F5344CB8AC3E}">
        <p14:creationId xmlns:p14="http://schemas.microsoft.com/office/powerpoint/2010/main" val="1091292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02920" y="182880"/>
            <a:ext cx="8229600" cy="548640"/>
          </a:xfrm>
          <a:prstGeom prst="rect">
            <a:avLst/>
          </a:prstGeom>
          <a:noFill/>
          <a:ln/>
        </p:spPr>
        <p:txBody>
          <a:bodyPr wrap="square" lIns="0" tIns="0" rIns="0" bIns="0" rtlCol="0" anchor="ctr"/>
          <a:lstStyle/>
          <a:p>
            <a:pPr marL="0" indent="0">
              <a:buNone/>
            </a:pPr>
            <a:r>
              <a:rPr lang="en-US" sz="2200" b="1" dirty="0">
                <a:solidFill>
                  <a:srgbClr val="1A2E44"/>
                </a:solidFill>
                <a:latin typeface="Calibri" pitchFamily="34" charset="0"/>
                <a:ea typeface="Calibri" pitchFamily="34" charset="-122"/>
                <a:cs typeface="Calibri" pitchFamily="34" charset="-120"/>
              </a:rPr>
              <a:t>Team Connections &amp; Task Distribution</a:t>
            </a:r>
            <a:endParaRPr lang="en-US" sz="2200" dirty="0"/>
          </a:p>
        </p:txBody>
      </p:sp>
      <p:sp>
        <p:nvSpPr>
          <p:cNvPr id="3" name="Text 1"/>
          <p:cNvSpPr/>
          <p:nvPr/>
        </p:nvSpPr>
        <p:spPr>
          <a:xfrm>
            <a:off x="502920" y="731520"/>
            <a:ext cx="8229600" cy="274320"/>
          </a:xfrm>
          <a:prstGeom prst="rect">
            <a:avLst/>
          </a:prstGeom>
          <a:noFill/>
          <a:ln/>
        </p:spPr>
        <p:txBody>
          <a:bodyPr wrap="square" lIns="0" tIns="0" rIns="0" bIns="0" rtlCol="0" anchor="ctr"/>
          <a:lstStyle/>
          <a:p>
            <a:pPr marL="0" indent="0">
              <a:buNone/>
            </a:pPr>
            <a:r>
              <a:rPr lang="en-US" sz="1200" dirty="0">
                <a:solidFill>
                  <a:srgbClr val="4A6080"/>
                </a:solidFill>
                <a:latin typeface="Calibri" pitchFamily="34" charset="0"/>
                <a:cs typeface="Calibri" pitchFamily="34" charset="-120"/>
              </a:rPr>
              <a:t>Analysis focus on the top 6 countries with highest loses. </a:t>
            </a:r>
            <a:endParaRPr lang="en-US" sz="1200" dirty="0"/>
          </a:p>
        </p:txBody>
      </p:sp>
      <p:sp>
        <p:nvSpPr>
          <p:cNvPr id="4" name="Shape 2"/>
          <p:cNvSpPr/>
          <p:nvPr/>
        </p:nvSpPr>
        <p:spPr>
          <a:xfrm>
            <a:off x="502920" y="1051560"/>
            <a:ext cx="8138160" cy="0"/>
          </a:xfrm>
          <a:prstGeom prst="line">
            <a:avLst/>
          </a:prstGeom>
          <a:noFill/>
          <a:ln w="9525">
            <a:solidFill>
              <a:srgbClr val="D0DCE8"/>
            </a:solidFill>
            <a:prstDash val="solid"/>
          </a:ln>
        </p:spPr>
      </p:sp>
      <p:sp>
        <p:nvSpPr>
          <p:cNvPr id="5" name="Shape 3"/>
          <p:cNvSpPr/>
          <p:nvPr/>
        </p:nvSpPr>
        <p:spPr>
          <a:xfrm>
            <a:off x="320040" y="1188720"/>
            <a:ext cx="3840480" cy="3200400"/>
          </a:xfrm>
          <a:prstGeom prst="rect">
            <a:avLst/>
          </a:prstGeom>
          <a:solidFill>
            <a:srgbClr val="FFFFFF"/>
          </a:solidFill>
          <a:ln w="6350">
            <a:solidFill>
              <a:srgbClr val="D8E4F0"/>
            </a:solidFill>
            <a:prstDash val="solid"/>
          </a:ln>
          <a:effectLst>
            <a:outerShdw blurRad="101600" dist="25400" dir="8100000" algn="bl" rotWithShape="0">
              <a:srgbClr val="000000">
                <a:alpha val="12000"/>
              </a:srgbClr>
            </a:outerShdw>
          </a:effectLst>
        </p:spPr>
      </p:sp>
      <p:sp>
        <p:nvSpPr>
          <p:cNvPr id="6" name="Shape 4"/>
          <p:cNvSpPr/>
          <p:nvPr/>
        </p:nvSpPr>
        <p:spPr>
          <a:xfrm>
            <a:off x="320040" y="1188720"/>
            <a:ext cx="54864" cy="3200400"/>
          </a:xfrm>
          <a:prstGeom prst="rect">
            <a:avLst/>
          </a:prstGeom>
          <a:solidFill>
            <a:srgbClr val="2E86AB"/>
          </a:solidFill>
          <a:ln/>
        </p:spPr>
      </p:sp>
      <p:sp>
        <p:nvSpPr>
          <p:cNvPr id="7" name="Text 5"/>
          <p:cNvSpPr/>
          <p:nvPr/>
        </p:nvSpPr>
        <p:spPr>
          <a:xfrm>
            <a:off x="457200" y="1234440"/>
            <a:ext cx="3611880" cy="365760"/>
          </a:xfrm>
          <a:prstGeom prst="rect">
            <a:avLst/>
          </a:prstGeom>
          <a:noFill/>
          <a:ln/>
        </p:spPr>
        <p:txBody>
          <a:bodyPr wrap="square" lIns="0" tIns="0" rIns="0" bIns="0" rtlCol="0" anchor="ctr"/>
          <a:lstStyle/>
          <a:p>
            <a:pPr marL="0" indent="0">
              <a:buNone/>
            </a:pPr>
            <a:r>
              <a:rPr lang="en-US" sz="1300" b="1" dirty="0">
                <a:solidFill>
                  <a:srgbClr val="2E86AB"/>
                </a:solidFill>
                <a:latin typeface="Calibri" pitchFamily="34" charset="0"/>
                <a:ea typeface="Calibri" pitchFamily="34" charset="-122"/>
                <a:cs typeface="Calibri" pitchFamily="34" charset="-120"/>
              </a:rPr>
              <a:t>My Section: Geographic &amp; Temporal</a:t>
            </a:r>
            <a:endParaRPr lang="en-US" sz="1300" dirty="0"/>
          </a:p>
        </p:txBody>
      </p:sp>
      <p:sp>
        <p:nvSpPr>
          <p:cNvPr id="8" name="Text 6"/>
          <p:cNvSpPr/>
          <p:nvPr/>
        </p:nvSpPr>
        <p:spPr>
          <a:xfrm>
            <a:off x="457200" y="1581912"/>
            <a:ext cx="3611880" cy="274320"/>
          </a:xfrm>
          <a:prstGeom prst="rect">
            <a:avLst/>
          </a:prstGeom>
          <a:noFill/>
          <a:ln/>
        </p:spPr>
        <p:txBody>
          <a:bodyPr wrap="square" lIns="0" tIns="0" rIns="0" bIns="0" rtlCol="0" anchor="ctr"/>
          <a:lstStyle/>
          <a:p>
            <a:pPr marL="0" indent="0">
              <a:buNone/>
            </a:pPr>
            <a:r>
              <a:rPr lang="en-US" sz="1100" dirty="0">
                <a:solidFill>
                  <a:srgbClr val="4A6080"/>
                </a:solidFill>
                <a:latin typeface="Calibri" pitchFamily="34" charset="0"/>
                <a:ea typeface="Calibri" pitchFamily="34" charset="-122"/>
                <a:cs typeface="Calibri" pitchFamily="34" charset="-120"/>
              </a:rPr>
              <a:t>Sudarsh  +  Sandra (support)</a:t>
            </a:r>
            <a:endParaRPr lang="en-US" sz="1100" dirty="0"/>
          </a:p>
        </p:txBody>
      </p:sp>
      <p:sp>
        <p:nvSpPr>
          <p:cNvPr id="9" name="Text 7"/>
          <p:cNvSpPr/>
          <p:nvPr/>
        </p:nvSpPr>
        <p:spPr>
          <a:xfrm>
            <a:off x="420624" y="1353312"/>
            <a:ext cx="3611880" cy="2423160"/>
          </a:xfrm>
          <a:prstGeom prst="rect">
            <a:avLst/>
          </a:prstGeom>
          <a:noFill/>
          <a:ln/>
        </p:spPr>
        <p:txBody>
          <a:bodyPr wrap="square" rtlCol="0" anchor="ctr"/>
          <a:lstStyle/>
          <a:p>
            <a:pPr marL="342900" indent="-342900">
              <a:buSzPct val="100000"/>
              <a:buChar char="•"/>
            </a:pPr>
            <a:r>
              <a:rPr lang="en-US" sz="1100" dirty="0">
                <a:solidFill>
                  <a:srgbClr val="1A2E44"/>
                </a:solidFill>
                <a:latin typeface="Calibri" pitchFamily="34" charset="0"/>
                <a:ea typeface="Calibri" pitchFamily="34" charset="-122"/>
                <a:cs typeface="Calibri" pitchFamily="34" charset="-120"/>
              </a:rPr>
              <a:t>Country summary table + pareto</a:t>
            </a:r>
            <a:endParaRPr lang="en-US" sz="1100" dirty="0"/>
          </a:p>
          <a:p>
            <a:pPr marL="342900" indent="-342900">
              <a:buSzPct val="100000"/>
              <a:buChar char="•"/>
            </a:pPr>
            <a:r>
              <a:rPr lang="en-US" sz="1100" dirty="0">
                <a:solidFill>
                  <a:srgbClr val="1A2E44"/>
                </a:solidFill>
                <a:latin typeface="Calibri" pitchFamily="34" charset="0"/>
                <a:ea typeface="Calibri" pitchFamily="34" charset="-122"/>
                <a:cs typeface="Calibri" pitchFamily="34" charset="-120"/>
              </a:rPr>
              <a:t>Chi-square statistical tests (6 countries)</a:t>
            </a:r>
            <a:endParaRPr lang="en-US" sz="1100" dirty="0"/>
          </a:p>
          <a:p>
            <a:pPr marL="342900" indent="-342900">
              <a:buSzPct val="100000"/>
              <a:buChar char="•"/>
            </a:pPr>
            <a:r>
              <a:rPr lang="en-US" sz="1100" dirty="0">
                <a:solidFill>
                  <a:srgbClr val="1A2E44"/>
                </a:solidFill>
                <a:latin typeface="Calibri" pitchFamily="34" charset="0"/>
                <a:ea typeface="Calibri" pitchFamily="34" charset="-122"/>
                <a:cs typeface="Calibri" pitchFamily="34" charset="-120"/>
              </a:rPr>
              <a:t>Monthly, quarterly, yearly temporal analysis</a:t>
            </a:r>
            <a:endParaRPr lang="en-US" sz="1100" dirty="0"/>
          </a:p>
          <a:p>
            <a:pPr marL="342900" indent="-342900">
              <a:buSzPct val="100000"/>
              <a:buChar char="•"/>
            </a:pPr>
            <a:r>
              <a:rPr lang="en-US" sz="1100" dirty="0">
                <a:solidFill>
                  <a:srgbClr val="1A2E44"/>
                </a:solidFill>
                <a:latin typeface="Calibri" pitchFamily="34" charset="0"/>
                <a:ea typeface="Calibri" pitchFamily="34" charset="-122"/>
                <a:cs typeface="Calibri" pitchFamily="34" charset="-120"/>
              </a:rPr>
              <a:t>YoY comparison — rate improving</a:t>
            </a:r>
            <a:endParaRPr lang="en-US" sz="1100" dirty="0"/>
          </a:p>
          <a:p>
            <a:pPr marL="342900" indent="-342900">
              <a:buSzPct val="100000"/>
              <a:buChar char="•"/>
            </a:pPr>
            <a:r>
              <a:rPr lang="en-US" sz="1100" dirty="0">
                <a:solidFill>
                  <a:srgbClr val="1A2E44"/>
                </a:solidFill>
                <a:latin typeface="Calibri" pitchFamily="34" charset="0"/>
                <a:ea typeface="Calibri" pitchFamily="34" charset="-122"/>
                <a:cs typeface="Calibri" pitchFamily="34" charset="-120"/>
              </a:rPr>
              <a:t>UK rate stability 2010 vs 2011</a:t>
            </a:r>
            <a:endParaRPr lang="en-US" sz="1100" dirty="0"/>
          </a:p>
          <a:p>
            <a:pPr marL="342900" indent="-342900">
              <a:buSzPct val="100000"/>
              <a:buChar char="•"/>
            </a:pPr>
            <a:r>
              <a:rPr lang="en-US" sz="1100" dirty="0">
                <a:solidFill>
                  <a:srgbClr val="1A2E44"/>
                </a:solidFill>
                <a:latin typeface="Calibri" pitchFamily="34" charset="0"/>
                <a:ea typeface="Calibri" pitchFamily="34" charset="-122"/>
                <a:cs typeface="Calibri" pitchFamily="34" charset="-120"/>
              </a:rPr>
              <a:t>Spike month product identification</a:t>
            </a:r>
          </a:p>
        </p:txBody>
      </p:sp>
      <p:sp>
        <p:nvSpPr>
          <p:cNvPr id="10" name="Shape 8"/>
          <p:cNvSpPr/>
          <p:nvPr/>
        </p:nvSpPr>
        <p:spPr>
          <a:xfrm>
            <a:off x="4251960" y="2468880"/>
            <a:ext cx="548640" cy="0"/>
          </a:xfrm>
          <a:prstGeom prst="line">
            <a:avLst/>
          </a:prstGeom>
          <a:noFill/>
          <a:ln w="19050">
            <a:solidFill>
              <a:srgbClr val="4A6080"/>
            </a:solidFill>
            <a:prstDash val="solid"/>
            <a:tailEnd type="arrow"/>
          </a:ln>
        </p:spPr>
      </p:sp>
      <p:sp>
        <p:nvSpPr>
          <p:cNvPr id="11" name="Shape 9"/>
          <p:cNvSpPr/>
          <p:nvPr/>
        </p:nvSpPr>
        <p:spPr>
          <a:xfrm>
            <a:off x="4892040" y="1188720"/>
            <a:ext cx="3886200" cy="1463040"/>
          </a:xfrm>
          <a:prstGeom prst="rect">
            <a:avLst/>
          </a:prstGeom>
          <a:solidFill>
            <a:srgbClr val="FFFFFF"/>
          </a:solidFill>
          <a:ln w="6350">
            <a:solidFill>
              <a:srgbClr val="F0D0D0"/>
            </a:solidFill>
            <a:prstDash val="solid"/>
          </a:ln>
          <a:effectLst>
            <a:outerShdw blurRad="101600" dist="25400" dir="8100000" algn="bl" rotWithShape="0">
              <a:srgbClr val="000000">
                <a:alpha val="12000"/>
              </a:srgbClr>
            </a:outerShdw>
          </a:effectLst>
        </p:spPr>
      </p:sp>
      <p:sp>
        <p:nvSpPr>
          <p:cNvPr id="12" name="Shape 10"/>
          <p:cNvSpPr/>
          <p:nvPr/>
        </p:nvSpPr>
        <p:spPr>
          <a:xfrm>
            <a:off x="4892040" y="1188720"/>
            <a:ext cx="54864" cy="1463040"/>
          </a:xfrm>
          <a:prstGeom prst="rect">
            <a:avLst/>
          </a:prstGeom>
          <a:solidFill>
            <a:srgbClr val="E84855"/>
          </a:solidFill>
          <a:ln/>
        </p:spPr>
      </p:sp>
      <p:sp>
        <p:nvSpPr>
          <p:cNvPr id="13" name="Text 11"/>
          <p:cNvSpPr/>
          <p:nvPr/>
        </p:nvSpPr>
        <p:spPr>
          <a:xfrm>
            <a:off x="5029200" y="1234440"/>
            <a:ext cx="3657600" cy="320040"/>
          </a:xfrm>
          <a:prstGeom prst="rect">
            <a:avLst/>
          </a:prstGeom>
          <a:noFill/>
          <a:ln/>
        </p:spPr>
        <p:txBody>
          <a:bodyPr wrap="square" lIns="0" tIns="0" rIns="0" bIns="0" rtlCol="0" anchor="ctr"/>
          <a:lstStyle/>
          <a:p>
            <a:pPr marL="0" indent="0">
              <a:buNone/>
            </a:pPr>
            <a:r>
              <a:rPr lang="en-US" sz="1300" b="1" dirty="0">
                <a:solidFill>
                  <a:srgbClr val="E84855"/>
                </a:solidFill>
                <a:latin typeface="Calibri" pitchFamily="34" charset="0"/>
                <a:ea typeface="Calibri" pitchFamily="34" charset="-122"/>
                <a:cs typeface="Calibri" pitchFamily="34" charset="-120"/>
              </a:rPr>
              <a:t>Okah — Product Section</a:t>
            </a:r>
            <a:endParaRPr lang="en-US" sz="1300" dirty="0"/>
          </a:p>
        </p:txBody>
      </p:sp>
      <p:sp>
        <p:nvSpPr>
          <p:cNvPr id="14" name="Text 12"/>
          <p:cNvSpPr/>
          <p:nvPr/>
        </p:nvSpPr>
        <p:spPr>
          <a:xfrm>
            <a:off x="5029200" y="1581912"/>
            <a:ext cx="3657600" cy="1005840"/>
          </a:xfrm>
          <a:prstGeom prst="rect">
            <a:avLst/>
          </a:prstGeom>
          <a:noFill/>
          <a:ln/>
        </p:spPr>
        <p:txBody>
          <a:bodyPr wrap="square" rtlCol="0" anchor="ctr"/>
          <a:lstStyle/>
          <a:p>
            <a:pPr marL="342900" indent="-342900">
              <a:buSzPct val="100000"/>
              <a:buChar char="•"/>
            </a:pPr>
            <a:r>
              <a:rPr lang="en-US" sz="1000" dirty="0">
                <a:solidFill>
                  <a:srgbClr val="1A2E44"/>
                </a:solidFill>
                <a:latin typeface="Calibri" pitchFamily="34" charset="0"/>
                <a:ea typeface="Calibri" pitchFamily="34" charset="-122"/>
                <a:cs typeface="Calibri" pitchFamily="34" charset="-120"/>
              </a:rPr>
              <a:t>Is MEDIUM CERAMIC TOP STORAGE JAR a quality issue or bulk B2B?</a:t>
            </a:r>
            <a:endParaRPr lang="en-US" sz="1000" dirty="0"/>
          </a:p>
          <a:p>
            <a:pPr marL="342900" indent="-342900">
              <a:buSzPct val="100000"/>
              <a:buChar char="•"/>
            </a:pPr>
            <a:r>
              <a:rPr lang="en-US" sz="1000" dirty="0">
                <a:solidFill>
                  <a:srgbClr val="1A2E44"/>
                </a:solidFill>
                <a:latin typeface="Calibri" pitchFamily="34" charset="0"/>
                <a:ea typeface="Calibri" pitchFamily="34" charset="-122"/>
                <a:cs typeface="Calibri" pitchFamily="34" charset="-120"/>
              </a:rPr>
              <a:t>Which products are cancelled in EIRE every month?</a:t>
            </a:r>
            <a:endParaRPr lang="en-US" sz="1000" dirty="0"/>
          </a:p>
          <a:p>
            <a:pPr marL="342900" indent="-342900">
              <a:buSzPct val="100000"/>
              <a:buChar char="•"/>
            </a:pPr>
            <a:r>
              <a:rPr lang="en-US" sz="1000" dirty="0">
                <a:solidFill>
                  <a:srgbClr val="1A2E44"/>
                </a:solidFill>
                <a:latin typeface="Calibri" pitchFamily="34" charset="0"/>
                <a:ea typeface="Calibri" pitchFamily="34" charset="-122"/>
                <a:cs typeface="Calibri" pitchFamily="34" charset="-120"/>
              </a:rPr>
              <a:t>What caused the Sep 2010 spike (94,450 units)?</a:t>
            </a:r>
            <a:endParaRPr lang="en-US" sz="1000" dirty="0"/>
          </a:p>
        </p:txBody>
      </p:sp>
      <p:sp>
        <p:nvSpPr>
          <p:cNvPr id="15" name="Shape 13"/>
          <p:cNvSpPr/>
          <p:nvPr/>
        </p:nvSpPr>
        <p:spPr>
          <a:xfrm>
            <a:off x="4892040" y="2834640"/>
            <a:ext cx="3886200" cy="1554480"/>
          </a:xfrm>
          <a:prstGeom prst="rect">
            <a:avLst/>
          </a:prstGeom>
          <a:solidFill>
            <a:srgbClr val="FFFFFF"/>
          </a:solidFill>
          <a:ln w="6350">
            <a:solidFill>
              <a:srgbClr val="D0F0D8"/>
            </a:solidFill>
            <a:prstDash val="solid"/>
          </a:ln>
          <a:effectLst>
            <a:outerShdw blurRad="101600" dist="25400" dir="8100000" algn="bl" rotWithShape="0">
              <a:srgbClr val="000000">
                <a:alpha val="12000"/>
              </a:srgbClr>
            </a:outerShdw>
          </a:effectLst>
        </p:spPr>
      </p:sp>
      <p:sp>
        <p:nvSpPr>
          <p:cNvPr id="16" name="Shape 14"/>
          <p:cNvSpPr/>
          <p:nvPr/>
        </p:nvSpPr>
        <p:spPr>
          <a:xfrm>
            <a:off x="4892040" y="2834640"/>
            <a:ext cx="54864" cy="1554480"/>
          </a:xfrm>
          <a:prstGeom prst="rect">
            <a:avLst/>
          </a:prstGeom>
          <a:solidFill>
            <a:srgbClr val="4CAF50"/>
          </a:solidFill>
          <a:ln/>
        </p:spPr>
      </p:sp>
      <p:sp>
        <p:nvSpPr>
          <p:cNvPr id="17" name="Text 15"/>
          <p:cNvSpPr/>
          <p:nvPr/>
        </p:nvSpPr>
        <p:spPr>
          <a:xfrm>
            <a:off x="5029200" y="2880360"/>
            <a:ext cx="3657600" cy="320040"/>
          </a:xfrm>
          <a:prstGeom prst="rect">
            <a:avLst/>
          </a:prstGeom>
          <a:noFill/>
          <a:ln/>
        </p:spPr>
        <p:txBody>
          <a:bodyPr wrap="square" lIns="0" tIns="0" rIns="0" bIns="0" rtlCol="0" anchor="ctr"/>
          <a:lstStyle/>
          <a:p>
            <a:pPr marL="0" indent="0">
              <a:buNone/>
            </a:pPr>
            <a:r>
              <a:rPr lang="en-US" sz="1300" b="1" dirty="0">
                <a:solidFill>
                  <a:srgbClr val="4CAF50"/>
                </a:solidFill>
                <a:latin typeface="Calibri" pitchFamily="34" charset="0"/>
                <a:ea typeface="Calibri" pitchFamily="34" charset="-122"/>
                <a:cs typeface="Calibri" pitchFamily="34" charset="-120"/>
              </a:rPr>
              <a:t>Renato — Customer Section</a:t>
            </a:r>
            <a:endParaRPr lang="en-US" sz="1300" dirty="0"/>
          </a:p>
        </p:txBody>
      </p:sp>
      <p:sp>
        <p:nvSpPr>
          <p:cNvPr id="18" name="Text 16"/>
          <p:cNvSpPr/>
          <p:nvPr/>
        </p:nvSpPr>
        <p:spPr>
          <a:xfrm>
            <a:off x="5029200" y="3227832"/>
            <a:ext cx="3657600" cy="1097280"/>
          </a:xfrm>
          <a:prstGeom prst="rect">
            <a:avLst/>
          </a:prstGeom>
          <a:noFill/>
          <a:ln/>
        </p:spPr>
        <p:txBody>
          <a:bodyPr wrap="square" rtlCol="0" anchor="ctr"/>
          <a:lstStyle/>
          <a:p>
            <a:pPr marL="342900" indent="-342900">
              <a:buSzPct val="100000"/>
              <a:buChar char="•"/>
            </a:pPr>
            <a:r>
              <a:rPr lang="en-US" sz="1000" dirty="0">
                <a:solidFill>
                  <a:srgbClr val="1A2E44"/>
                </a:solidFill>
                <a:latin typeface="Calibri" pitchFamily="34" charset="0"/>
                <a:ea typeface="Calibri" pitchFamily="34" charset="-122"/>
                <a:cs typeface="Calibri" pitchFamily="34" charset="-120"/>
              </a:rPr>
              <a:t>Who are the Customer IDs behind the ceramic jar spike?</a:t>
            </a:r>
            <a:endParaRPr lang="en-US" sz="1000" dirty="0"/>
          </a:p>
          <a:p>
            <a:pPr marL="342900" indent="-342900">
              <a:buSzPct val="100000"/>
              <a:buChar char="•"/>
            </a:pPr>
            <a:r>
              <a:rPr lang="en-US" sz="1000" dirty="0">
                <a:solidFill>
                  <a:srgbClr val="1A2E44"/>
                </a:solidFill>
                <a:latin typeface="Calibri" pitchFamily="34" charset="0"/>
                <a:ea typeface="Calibri" pitchFamily="34" charset="-122"/>
                <a:cs typeface="Calibri" pitchFamily="34" charset="-120"/>
              </a:rPr>
              <a:t>Are the same customers cancelling year-round (chronic) or constantly new ones?</a:t>
            </a:r>
            <a:endParaRPr lang="en-US" sz="1000" dirty="0"/>
          </a:p>
          <a:p>
            <a:pPr marL="342900" indent="-342900">
              <a:buSzPct val="100000"/>
              <a:buChar char="•"/>
            </a:pPr>
            <a:r>
              <a:rPr lang="en-US" sz="1000" dirty="0">
                <a:solidFill>
                  <a:srgbClr val="1A2E44"/>
                </a:solidFill>
                <a:latin typeface="Calibri" pitchFamily="34" charset="0"/>
                <a:ea typeface="Calibri" pitchFamily="34" charset="-122"/>
                <a:cs typeface="Calibri" pitchFamily="34" charset="-120"/>
              </a:rPr>
              <a:t>Did the high-return customer segment shrink in 2011?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4855"/>
          </a:solidFill>
          <a:ln/>
        </p:spPr>
      </p:sp>
      <p:sp>
        <p:nvSpPr>
          <p:cNvPr id="3" name="Text 1"/>
          <p:cNvSpPr/>
          <p:nvPr/>
        </p:nvSpPr>
        <p:spPr>
          <a:xfrm>
            <a:off x="548640" y="365760"/>
            <a:ext cx="73152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sp>
        <p:nvSpPr>
          <p:cNvPr id="4" name="Shape 2"/>
          <p:cNvSpPr/>
          <p:nvPr/>
        </p:nvSpPr>
        <p:spPr>
          <a:xfrm>
            <a:off x="457200" y="1051560"/>
            <a:ext cx="457200" cy="457200"/>
          </a:xfrm>
          <a:prstGeom prst="rect">
            <a:avLst/>
          </a:prstGeom>
          <a:solidFill>
            <a:srgbClr val="E84855"/>
          </a:solidFill>
          <a:ln w="12700">
            <a:solidFill>
              <a:srgbClr val="E84855"/>
            </a:solidFill>
            <a:prstDash val="solid"/>
          </a:ln>
        </p:spPr>
      </p:sp>
      <p:sp>
        <p:nvSpPr>
          <p:cNvPr id="5" name="Text 3"/>
          <p:cNvSpPr/>
          <p:nvPr/>
        </p:nvSpPr>
        <p:spPr>
          <a:xfrm>
            <a:off x="457200" y="105156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1051560" y="1115568"/>
            <a:ext cx="758952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UK = 85.3% of losses (£1.1M) — scale problem. Fix UK ops = fix most of the problem.</a:t>
            </a:r>
            <a:endParaRPr lang="en-US" sz="1200" dirty="0"/>
          </a:p>
        </p:txBody>
      </p:sp>
      <p:sp>
        <p:nvSpPr>
          <p:cNvPr id="7" name="Shape 5"/>
          <p:cNvSpPr/>
          <p:nvPr/>
        </p:nvSpPr>
        <p:spPr>
          <a:xfrm>
            <a:off x="457200" y="1801368"/>
            <a:ext cx="457200" cy="457200"/>
          </a:xfrm>
          <a:prstGeom prst="rect">
            <a:avLst/>
          </a:prstGeom>
          <a:solidFill>
            <a:srgbClr val="2E86AB"/>
          </a:solidFill>
          <a:ln w="12700">
            <a:solidFill>
              <a:srgbClr val="2E86AB"/>
            </a:solidFill>
            <a:prstDash val="solid"/>
          </a:ln>
        </p:spPr>
      </p:sp>
      <p:sp>
        <p:nvSpPr>
          <p:cNvPr id="8" name="Text 6"/>
          <p:cNvSpPr/>
          <p:nvPr/>
        </p:nvSpPr>
        <p:spPr>
          <a:xfrm>
            <a:off x="457200" y="1801368"/>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9" name="Text 7"/>
          <p:cNvSpPr/>
          <p:nvPr/>
        </p:nvSpPr>
        <p:spPr>
          <a:xfrm>
            <a:off x="1051560" y="1865376"/>
            <a:ext cx="758952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EIRE &amp; Germany have structurally elevated rates across both full years — statistically confirmed (p=0.000).</a:t>
            </a:r>
            <a:endParaRPr lang="en-US" sz="1200" dirty="0"/>
          </a:p>
        </p:txBody>
      </p:sp>
      <p:sp>
        <p:nvSpPr>
          <p:cNvPr id="10" name="Shape 8"/>
          <p:cNvSpPr/>
          <p:nvPr/>
        </p:nvSpPr>
        <p:spPr>
          <a:xfrm>
            <a:off x="457200" y="2551176"/>
            <a:ext cx="457200" cy="457200"/>
          </a:xfrm>
          <a:prstGeom prst="rect">
            <a:avLst/>
          </a:prstGeom>
          <a:solidFill>
            <a:srgbClr val="F4A261"/>
          </a:solidFill>
          <a:ln w="12700">
            <a:solidFill>
              <a:srgbClr val="F4A261"/>
            </a:solidFill>
            <a:prstDash val="solid"/>
          </a:ln>
        </p:spPr>
      </p:sp>
      <p:sp>
        <p:nvSpPr>
          <p:cNvPr id="11" name="Text 9"/>
          <p:cNvSpPr/>
          <p:nvPr/>
        </p:nvSpPr>
        <p:spPr>
          <a:xfrm>
            <a:off x="457200" y="2551176"/>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2" name="Text 10"/>
          <p:cNvSpPr/>
          <p:nvPr/>
        </p:nvSpPr>
        <p:spPr>
          <a:xfrm>
            <a:off x="1051560" y="2615184"/>
            <a:ext cx="758952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Rate is stable year-round at 16–17%. Q4 loss spikes are volume-driven, not behaviour-driven.</a:t>
            </a:r>
            <a:endParaRPr lang="en-US" sz="1200" dirty="0"/>
          </a:p>
        </p:txBody>
      </p:sp>
      <p:sp>
        <p:nvSpPr>
          <p:cNvPr id="13" name="Shape 11"/>
          <p:cNvSpPr/>
          <p:nvPr/>
        </p:nvSpPr>
        <p:spPr>
          <a:xfrm>
            <a:off x="457200" y="3300984"/>
            <a:ext cx="457200" cy="457200"/>
          </a:xfrm>
          <a:prstGeom prst="rect">
            <a:avLst/>
          </a:prstGeom>
          <a:solidFill>
            <a:srgbClr val="4CAF50"/>
          </a:solidFill>
          <a:ln w="12700">
            <a:solidFill>
              <a:srgbClr val="4CAF50"/>
            </a:solidFill>
            <a:prstDash val="solid"/>
          </a:ln>
        </p:spPr>
      </p:sp>
      <p:sp>
        <p:nvSpPr>
          <p:cNvPr id="14" name="Text 12"/>
          <p:cNvSpPr/>
          <p:nvPr/>
        </p:nvSpPr>
        <p:spPr>
          <a:xfrm>
            <a:off x="457200" y="3300984"/>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5" name="Text 13"/>
          <p:cNvSpPr/>
          <p:nvPr/>
        </p:nvSpPr>
        <p:spPr>
          <a:xfrm>
            <a:off x="1051560" y="3364992"/>
            <a:ext cx="758952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Rate improving YoY: 17.6% (2010) → 15.7% (2011). Trend = −0.167%/month.</a:t>
            </a:r>
            <a:endParaRPr lang="en-US" sz="1200" dirty="0"/>
          </a:p>
        </p:txBody>
      </p:sp>
      <p:sp>
        <p:nvSpPr>
          <p:cNvPr id="16" name="Shape 14"/>
          <p:cNvSpPr/>
          <p:nvPr/>
        </p:nvSpPr>
        <p:spPr>
          <a:xfrm>
            <a:off x="457200" y="4050792"/>
            <a:ext cx="457200" cy="457200"/>
          </a:xfrm>
          <a:prstGeom prst="rect">
            <a:avLst/>
          </a:prstGeom>
          <a:solidFill>
            <a:srgbClr val="7AA8CC"/>
          </a:solidFill>
          <a:ln w="12700">
            <a:solidFill>
              <a:srgbClr val="7AA8CC"/>
            </a:solidFill>
            <a:prstDash val="solid"/>
          </a:ln>
        </p:spPr>
      </p:sp>
      <p:sp>
        <p:nvSpPr>
          <p:cNvPr id="17" name="Text 15"/>
          <p:cNvSpPr/>
          <p:nvPr/>
        </p:nvSpPr>
        <p:spPr>
          <a:xfrm>
            <a:off x="457200" y="405079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18" name="Text 16"/>
          <p:cNvSpPr/>
          <p:nvPr/>
        </p:nvSpPr>
        <p:spPr>
          <a:xfrm>
            <a:off x="1051560" y="4114800"/>
            <a:ext cx="758952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Spike months driven by 1–2 SKUs — likely bulk B2B event, not seasonal customer behaviour.</a:t>
            </a:r>
            <a:endParaRPr lang="en-US" sz="1200" dirty="0"/>
          </a:p>
        </p:txBody>
      </p:sp>
      <p:sp>
        <p:nvSpPr>
          <p:cNvPr id="19" name="Shape 17"/>
          <p:cNvSpPr/>
          <p:nvPr/>
        </p:nvSpPr>
        <p:spPr>
          <a:xfrm>
            <a:off x="0" y="5074920"/>
            <a:ext cx="9144000" cy="68580"/>
          </a:xfrm>
          <a:prstGeom prst="rect">
            <a:avLst/>
          </a:prstGeom>
          <a:solidFill>
            <a:srgbClr val="2E86AB"/>
          </a:solidFill>
          <a:ln/>
        </p:spPr>
      </p:sp>
      <p:sp>
        <p:nvSpPr>
          <p:cNvPr id="20" name="Text 18"/>
          <p:cNvSpPr/>
          <p:nvPr/>
        </p:nvSpPr>
        <p:spPr>
          <a:xfrm>
            <a:off x="457200" y="4800600"/>
            <a:ext cx="8229600" cy="274320"/>
          </a:xfrm>
          <a:prstGeom prst="rect">
            <a:avLst/>
          </a:prstGeom>
          <a:noFill/>
          <a:ln/>
        </p:spPr>
        <p:txBody>
          <a:bodyPr wrap="square" rtlCol="0" anchor="ctr"/>
          <a:lstStyle/>
          <a:p>
            <a:pPr marL="0" indent="0" algn="ctr">
              <a:buNone/>
            </a:pPr>
            <a:r>
              <a:rPr lang="en-US" sz="1000" dirty="0">
                <a:solidFill>
                  <a:srgbClr val="556070"/>
                </a:solidFill>
                <a:latin typeface="Calibri" pitchFamily="34" charset="0"/>
                <a:ea typeface="Calibri" pitchFamily="34" charset="-122"/>
                <a:cs typeface="Calibri" pitchFamily="34" charset="-120"/>
              </a:rPr>
              <a:t>Sudarsh Mekkampurath Sajeev  |  Support: Sandra Raj Pattuvakkaran  |  Checkpoint #2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TotalTime>
  <Words>1149</Words>
  <Application>Microsoft Office PowerPoint</Application>
  <PresentationFormat>On-screen Show (16:9)</PresentationFormat>
  <Paragraphs>115</Paragraphs>
  <Slides>12</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Project Context, Business Problem, and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&amp; Temporal Analysis — Checkpoint 2</dc:title>
  <dc:subject>PptxGenJS Presentation</dc:subject>
  <dc:creator>PptxGenJS</dc:creator>
  <cp:lastModifiedBy>Sandra Raj Pattuvakkaran</cp:lastModifiedBy>
  <cp:revision>6</cp:revision>
  <dcterms:created xsi:type="dcterms:W3CDTF">2026-05-15T11:55:10Z</dcterms:created>
  <dcterms:modified xsi:type="dcterms:W3CDTF">2026-05-16T13:55:16Z</dcterms:modified>
</cp:coreProperties>
</file>